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8"/>
      <p:bold r:id="rId9"/>
    </p:embeddedFont>
    <p:embeddedFont>
      <p:font typeface="Barlow Medium" panose="00000600000000000000" pitchFamily="2" charset="0"/>
      <p:regular r:id="rId10"/>
    </p:embeddedFont>
    <p:embeddedFont>
      <p:font typeface="Calibri (MS)" panose="020B0604020202020204" charset="0"/>
      <p:regular r:id="rId11"/>
    </p:embeddedFont>
    <p:embeddedFont>
      <p:font typeface="Canva Sans" panose="020B0604020202020204" charset="0"/>
      <p:regular r:id="rId12"/>
    </p:embeddedFont>
    <p:embeddedFont>
      <p:font typeface="Canva Sans Bold" panose="020B0604020202020204" charset="0"/>
      <p:regular r:id="rId13"/>
    </p:embeddedFont>
    <p:embeddedFont>
      <p:font typeface="Garamond Bold" panose="02020804030307010803" pitchFamily="18" charset="0"/>
      <p:regular r:id="rId14"/>
      <p:bold r:id="rId15"/>
    </p:embeddedFont>
    <p:embeddedFont>
      <p:font typeface="Nourd" panose="020B0604020202020204" charset="0"/>
      <p:regular r:id="rId16"/>
    </p:embeddedFont>
    <p:embeddedFont>
      <p:font typeface="Nourd Bold" panose="020B0604020202020204" charset="0"/>
      <p:regular r:id="rId17"/>
    </p:embeddedFont>
    <p:embeddedFont>
      <p:font typeface="Nourd Semi-Bold" panose="020B0604020202020204" charset="0"/>
      <p:regular r:id="rId18"/>
    </p:embeddedFont>
    <p:embeddedFont>
      <p:font typeface="Oswald Bold" panose="020B0604020202020204" charset="0"/>
      <p:regular r:id="rId19"/>
    </p:embeddedFont>
    <p:embeddedFont>
      <p:font typeface="Times New Roman Bold" panose="02020803070505020304" pitchFamily="18" charset="0"/>
      <p:regular r:id="rId20"/>
      <p:bold r:id="rId21"/>
    </p:embeddedFont>
    <p:embeddedFont>
      <p:font typeface="Trade Gothic Condensed" panose="020B0604020202020204" charset="0"/>
      <p:regular r:id="rId22"/>
    </p:embeddedFont>
    <p:embeddedFont>
      <p:font typeface="Trade Gothic Condensed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6" d="100"/>
          <a:sy n="26" d="100"/>
        </p:scale>
        <p:origin x="72" y="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5.svg"/><Relationship Id="rId2" Type="http://schemas.openxmlformats.org/officeDocument/2006/relationships/image" Target="../media/image4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3.jpe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5.svg"/><Relationship Id="rId3" Type="http://schemas.openxmlformats.org/officeDocument/2006/relationships/image" Target="../media/image3.jpeg"/><Relationship Id="rId7" Type="http://schemas.openxmlformats.org/officeDocument/2006/relationships/image" Target="../media/image29.svg"/><Relationship Id="rId12" Type="http://schemas.openxmlformats.org/officeDocument/2006/relationships/image" Target="../media/image34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5" Type="http://schemas.openxmlformats.org/officeDocument/2006/relationships/image" Target="../media/image36.svg"/><Relationship Id="rId10" Type="http://schemas.openxmlformats.org/officeDocument/2006/relationships/image" Target="../media/image32.svg"/><Relationship Id="rId4" Type="http://schemas.openxmlformats.org/officeDocument/2006/relationships/image" Target="../media/image4.png"/><Relationship Id="rId9" Type="http://schemas.openxmlformats.org/officeDocument/2006/relationships/image" Target="../media/image31.svg"/><Relationship Id="rId14" Type="http://schemas.openxmlformats.org/officeDocument/2006/relationships/image" Target="../media/image3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pengroup.org/certifications/open-fair" TargetMode="External"/><Relationship Id="rId13" Type="http://schemas.openxmlformats.org/officeDocument/2006/relationships/hyperlink" Target="https://huggingface.co/blog/security-incident-july-2026" TargetMode="External"/><Relationship Id="rId18" Type="http://schemas.openxmlformats.org/officeDocument/2006/relationships/hyperlink" Target="https://nextjs.org/docs" TargetMode="External"/><Relationship Id="rId26" Type="http://schemas.openxmlformats.org/officeDocument/2006/relationships/hyperlink" Target="https://csrc.nist.gov/publications/detail/sp/800-207/final" TargetMode="External"/><Relationship Id="rId3" Type="http://schemas.openxmlformats.org/officeDocument/2006/relationships/image" Target="../media/image4.png"/><Relationship Id="rId21" Type="http://schemas.openxmlformats.org/officeDocument/2006/relationships/hyperlink" Target="https://opengroup.org/open-fair" TargetMode="External"/><Relationship Id="rId7" Type="http://schemas.openxmlformats.org/officeDocument/2006/relationships/image" Target="../media/image39.png"/><Relationship Id="rId12" Type="http://schemas.openxmlformats.org/officeDocument/2006/relationships/hyperlink" Target="https://meity.gov.in" TargetMode="External"/><Relationship Id="rId17" Type="http://schemas.openxmlformats.org/officeDocument/2006/relationships/hyperlink" Target="https://www.canva.com/design/DAGwtgolAgU/llQ0Ji-wXzeSXiuNu_nFvg/edit" TargetMode="External"/><Relationship Id="rId25" Type="http://schemas.openxmlformats.org/officeDocument/2006/relationships/hyperlink" Target="https://ibm" TargetMode="External"/><Relationship Id="rId2" Type="http://schemas.openxmlformats.org/officeDocument/2006/relationships/image" Target="../media/image3.jpeg"/><Relationship Id="rId16" Type="http://schemas.openxmlformats.org/officeDocument/2006/relationships/hyperlink" Target="https://jfrog.com/blog/data-scientists-targeted-by-malicious-hugging-face-ml-models-with-silent-backdoor/" TargetMode="External"/><Relationship Id="rId20" Type="http://schemas.openxmlformats.org/officeDocument/2006/relationships/hyperlink" Target="https://github.com/VirusTotal/yara-x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11" Type="http://schemas.openxmlformats.org/officeDocument/2006/relationships/hyperlink" Target="https://www.rfc-editor.org/info/rfc4301/" TargetMode="External"/><Relationship Id="rId24" Type="http://schemas.openxmlformats.org/officeDocument/2006/relationships/hyperlink" Target="https://gartner.com/en/cybersecurity" TargetMode="External"/><Relationship Id="rId5" Type="http://schemas.openxmlformats.org/officeDocument/2006/relationships/image" Target="../media/image37.svg"/><Relationship Id="rId15" Type="http://schemas.openxmlformats.org/officeDocument/2006/relationships/hyperlink" Target="https://oligo.security/blog/shadowray-first-known-attack-targeting-ai-workloads" TargetMode="External"/><Relationship Id="rId23" Type="http://schemas.openxmlformats.org/officeDocument/2006/relationships/hyperlink" Target="https://ibm.com/reports/data-breach" TargetMode="External"/><Relationship Id="rId10" Type="http://schemas.openxmlformats.org/officeDocument/2006/relationships/hyperlink" Target="https://csrc.nist.gov/pubs/sp/800/207/final" TargetMode="External"/><Relationship Id="rId19" Type="http://schemas.openxmlformats.org/officeDocument/2006/relationships/hyperlink" Target="https://scapy.net" TargetMode="External"/><Relationship Id="rId4" Type="http://schemas.openxmlformats.org/officeDocument/2006/relationships/image" Target="../media/image5.svg"/><Relationship Id="rId9" Type="http://schemas.openxmlformats.org/officeDocument/2006/relationships/hyperlink" Target="https://www.nist.gov/cyberframework" TargetMode="External"/><Relationship Id="rId14" Type="http://schemas.openxmlformats.org/officeDocument/2006/relationships/hyperlink" Target="https://pytorch.org/blog/compromised-nightly-dependency" TargetMode="External"/><Relationship Id="rId22" Type="http://schemas.openxmlformats.org/officeDocument/2006/relationships/hyperlink" Target="https://scipy.org" TargetMode="External"/><Relationship Id="rId27" Type="http://schemas.openxmlformats.org/officeDocument/2006/relationships/hyperlink" Target="https://opengroup.org/open-fairb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13872" y="1968445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7" y="0"/>
                </a:lnTo>
                <a:lnTo>
                  <a:pt x="6957907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434858" y="3943673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2000"/>
              </a:blip>
              <a:stretch>
                <a:fillRect r="-149475" b="-1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772" y="1939870"/>
            <a:ext cx="16395007" cy="735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endParaRPr/>
          </a:p>
          <a:p>
            <a:pPr marL="651510" lvl="1" indent="-325755" algn="just">
              <a:lnSpc>
                <a:spcPts val="8639"/>
              </a:lnSpc>
              <a:buFont typeface="Arial"/>
              <a:buChar char="•"/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sz="3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SIH26105</a:t>
            </a:r>
          </a:p>
          <a:p>
            <a:pPr marL="777240" lvl="1" indent="-388620" algn="just">
              <a:lnSpc>
                <a:spcPts val="6227"/>
              </a:lnSpc>
              <a:buFont typeface="Arial"/>
              <a:buChar char="•"/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Continuous Cyber Risk     Quantification and Investment Optimization Platform</a:t>
            </a:r>
          </a:p>
          <a:p>
            <a:pPr marL="651510" lvl="1" indent="-325755" algn="just">
              <a:lnSpc>
                <a:spcPts val="8639"/>
              </a:lnSpc>
              <a:buFont typeface="Arial"/>
              <a:buChar char="•"/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Blockchain &amp; Cybersecurity</a:t>
            </a:r>
          </a:p>
          <a:p>
            <a:pPr marL="651510" lvl="1" indent="-325755" algn="just">
              <a:lnSpc>
                <a:spcPts val="8639"/>
              </a:lnSpc>
              <a:buFont typeface="Arial"/>
              <a:buChar char="•"/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marL="651510" lvl="1" indent="-325755" algn="just">
              <a:lnSpc>
                <a:spcPts val="8639"/>
              </a:lnSpc>
              <a:buFont typeface="Arial"/>
              <a:buChar char="•"/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marL="651510" lvl="1" indent="-325755" algn="just">
              <a:lnSpc>
                <a:spcPts val="8639"/>
              </a:lnSpc>
              <a:buFont typeface="Arial"/>
              <a:buChar char="•"/>
            </a:pPr>
            <a:r>
              <a:rPr lang="en-US" sz="35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HELL CODE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₹₹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800100" y="1504950"/>
            <a:ext cx="16459200" cy="57150"/>
            <a:chOff x="0" y="0"/>
            <a:chExt cx="21945600" cy="76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76200"/>
            </a:xfrm>
            <a:custGeom>
              <a:avLst/>
              <a:gdLst/>
              <a:ahLst/>
              <a:cxnLst/>
              <a:rect l="l" t="t" r="r" b="b"/>
              <a:pathLst>
                <a:path w="21945600" h="76200">
                  <a:moveTo>
                    <a:pt x="0" y="0"/>
                  </a:moveTo>
                  <a:lnTo>
                    <a:pt x="21945600" y="0"/>
                  </a:lnTo>
                  <a:lnTo>
                    <a:pt x="219456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0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9456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-71438"/>
            <a:ext cx="16459200" cy="1714500"/>
            <a:chOff x="0" y="0"/>
            <a:chExt cx="21945600" cy="228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THE AI CODING PARADOX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650304" y="9617155"/>
            <a:ext cx="4267200" cy="547688"/>
            <a:chOff x="0" y="0"/>
            <a:chExt cx="5689600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2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7641495" y="9516099"/>
            <a:ext cx="552017" cy="677321"/>
          </a:xfrm>
          <a:custGeom>
            <a:avLst/>
            <a:gdLst/>
            <a:ahLst/>
            <a:cxnLst/>
            <a:rect l="l" t="t" r="r" b="b"/>
            <a:pathLst>
              <a:path w="552017" h="677321">
                <a:moveTo>
                  <a:pt x="0" y="0"/>
                </a:moveTo>
                <a:lnTo>
                  <a:pt x="552017" y="0"/>
                </a:lnTo>
                <a:lnTo>
                  <a:pt x="552017" y="677322"/>
                </a:lnTo>
                <a:lnTo>
                  <a:pt x="0" y="6773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28700" y="1826872"/>
            <a:ext cx="4736960" cy="3316628"/>
          </a:xfrm>
          <a:custGeom>
            <a:avLst/>
            <a:gdLst/>
            <a:ahLst/>
            <a:cxnLst/>
            <a:rect l="l" t="t" r="r" b="b"/>
            <a:pathLst>
              <a:path w="4736960" h="3316628">
                <a:moveTo>
                  <a:pt x="0" y="0"/>
                </a:moveTo>
                <a:lnTo>
                  <a:pt x="4736960" y="0"/>
                </a:lnTo>
                <a:lnTo>
                  <a:pt x="4736960" y="3316628"/>
                </a:lnTo>
                <a:lnTo>
                  <a:pt x="0" y="33166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363930" y="1855447"/>
            <a:ext cx="4918480" cy="3316628"/>
          </a:xfrm>
          <a:custGeom>
            <a:avLst/>
            <a:gdLst/>
            <a:ahLst/>
            <a:cxnLst/>
            <a:rect l="l" t="t" r="r" b="b"/>
            <a:pathLst>
              <a:path w="4918480" h="3316628">
                <a:moveTo>
                  <a:pt x="0" y="0"/>
                </a:moveTo>
                <a:lnTo>
                  <a:pt x="4918479" y="0"/>
                </a:lnTo>
                <a:lnTo>
                  <a:pt x="4918479" y="3316628"/>
                </a:lnTo>
                <a:lnTo>
                  <a:pt x="0" y="33166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09" b="-3028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903829" y="2669467"/>
            <a:ext cx="5469771" cy="2331158"/>
          </a:xfrm>
          <a:custGeom>
            <a:avLst/>
            <a:gdLst/>
            <a:ahLst/>
            <a:cxnLst/>
            <a:rect l="l" t="t" r="r" b="b"/>
            <a:pathLst>
              <a:path w="5469771" h="2331158">
                <a:moveTo>
                  <a:pt x="0" y="0"/>
                </a:moveTo>
                <a:lnTo>
                  <a:pt x="5469771" y="0"/>
                </a:lnTo>
                <a:lnTo>
                  <a:pt x="5469771" y="2331158"/>
                </a:lnTo>
                <a:lnTo>
                  <a:pt x="0" y="23311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262" r="-15662" b="-1716"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028700" y="8761737"/>
            <a:ext cx="16233839" cy="1129262"/>
            <a:chOff x="0" y="0"/>
            <a:chExt cx="4636212" cy="32250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636212" cy="322505"/>
            </a:xfrm>
            <a:custGeom>
              <a:avLst/>
              <a:gdLst/>
              <a:ahLst/>
              <a:cxnLst/>
              <a:rect l="l" t="t" r="r" b="b"/>
              <a:pathLst>
                <a:path w="4636212" h="322505">
                  <a:moveTo>
                    <a:pt x="15738" y="0"/>
                  </a:moveTo>
                  <a:lnTo>
                    <a:pt x="4620474" y="0"/>
                  </a:lnTo>
                  <a:cubicBezTo>
                    <a:pt x="4629166" y="0"/>
                    <a:pt x="4636212" y="7046"/>
                    <a:pt x="4636212" y="15738"/>
                  </a:cubicBezTo>
                  <a:lnTo>
                    <a:pt x="4636212" y="306767"/>
                  </a:lnTo>
                  <a:cubicBezTo>
                    <a:pt x="4636212" y="310941"/>
                    <a:pt x="4634554" y="314944"/>
                    <a:pt x="4631603" y="317896"/>
                  </a:cubicBezTo>
                  <a:cubicBezTo>
                    <a:pt x="4628651" y="320847"/>
                    <a:pt x="4624648" y="322505"/>
                    <a:pt x="4620474" y="322505"/>
                  </a:cubicBezTo>
                  <a:lnTo>
                    <a:pt x="15738" y="322505"/>
                  </a:lnTo>
                  <a:cubicBezTo>
                    <a:pt x="7046" y="322505"/>
                    <a:pt x="0" y="315459"/>
                    <a:pt x="0" y="306767"/>
                  </a:cubicBezTo>
                  <a:lnTo>
                    <a:pt x="0" y="15738"/>
                  </a:lnTo>
                  <a:cubicBezTo>
                    <a:pt x="0" y="7046"/>
                    <a:pt x="7046" y="0"/>
                    <a:pt x="15738" y="0"/>
                  </a:cubicBez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636212" cy="360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67766" y="7601585"/>
            <a:ext cx="4124459" cy="782536"/>
            <a:chOff x="0" y="0"/>
            <a:chExt cx="1086277" cy="2061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86277" cy="206100"/>
            </a:xfrm>
            <a:custGeom>
              <a:avLst/>
              <a:gdLst/>
              <a:ahLst/>
              <a:cxnLst/>
              <a:rect l="l" t="t" r="r" b="b"/>
              <a:pathLst>
                <a:path w="1086277" h="206100">
                  <a:moveTo>
                    <a:pt x="0" y="0"/>
                  </a:moveTo>
                  <a:lnTo>
                    <a:pt x="1086277" y="0"/>
                  </a:lnTo>
                  <a:lnTo>
                    <a:pt x="1086277" y="206100"/>
                  </a:lnTo>
                  <a:lnTo>
                    <a:pt x="0" y="206100"/>
                  </a:lnTo>
                  <a:close/>
                </a:path>
              </a:pathLst>
            </a:custGeom>
            <a:solidFill>
              <a:srgbClr val="B5676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86277" cy="244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 Unvetted artifacts enter production pipelines before security can intervene.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958898" y="5334000"/>
            <a:ext cx="4239873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 b="1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OPEN AI CYBERSECURITY INCIDENT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  <a:endParaRPr lang="en-US" sz="2399" b="1" u="sng">
              <a:solidFill>
                <a:srgbClr val="000000"/>
              </a:solidFill>
              <a:latin typeface="Trade Gothic Condensed Bold"/>
              <a:ea typeface="Trade Gothic Condensed Bold"/>
              <a:cs typeface="Trade Gothic Condensed Bold"/>
              <a:sym typeface="Trade Gothic Condensed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25275" y="5334000"/>
            <a:ext cx="4943811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79"/>
              </a:lnSpc>
              <a:spcBef>
                <a:spcPct val="0"/>
              </a:spcBef>
            </a:pPr>
            <a:r>
              <a:rPr lang="en-US" sz="2399" b="1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NPM PACKAGE COMPROMISE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354803" y="5334000"/>
            <a:ext cx="4650387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 b="1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TATA ELECTRONICS BREACH</a:t>
            </a:r>
          </a:p>
          <a:p>
            <a:pPr algn="just">
              <a:lnSpc>
                <a:spcPts val="2999"/>
              </a:lnSpc>
              <a:spcBef>
                <a:spcPct val="0"/>
              </a:spcBef>
            </a:pPr>
            <a:endParaRPr lang="en-US" sz="2399" b="1" u="sng">
              <a:solidFill>
                <a:srgbClr val="000000"/>
              </a:solidFill>
              <a:latin typeface="Trade Gothic Condensed Bold"/>
              <a:ea typeface="Trade Gothic Condensed Bold"/>
              <a:cs typeface="Trade Gothic Condensed Bold"/>
              <a:sym typeface="Trade Gothic Condensed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30088" y="8932069"/>
            <a:ext cx="15803517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b="1">
                <a:solidFill>
                  <a:srgbClr val="FFFFFF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WE NEED</a:t>
            </a:r>
            <a:r>
              <a:rPr lang="en-US" sz="2699" b="1" u="none">
                <a:solidFill>
                  <a:srgbClr val="FFFFFF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A </a:t>
            </a:r>
            <a:r>
              <a:rPr lang="en-US" sz="2699" b="1">
                <a:solidFill>
                  <a:srgbClr val="FFFFFF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CONTINUOUS, INTELLIGENT CYBER DEFENSE LAYER THAT HOLDS RISKY ACTIONS, LEARNS FROM THREATS, </a:t>
            </a:r>
          </a:p>
          <a:p>
            <a:pPr algn="l">
              <a:lnSpc>
                <a:spcPts val="3239"/>
              </a:lnSpc>
            </a:pPr>
            <a:r>
              <a:rPr lang="en-US" sz="2699" b="1">
                <a:solidFill>
                  <a:srgbClr val="FFFFFF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AND PRESERVES ENTERPRISE PRIVACY.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969617" y="7601585"/>
            <a:ext cx="4124459" cy="782536"/>
            <a:chOff x="0" y="0"/>
            <a:chExt cx="1086277" cy="2061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86277" cy="206100"/>
            </a:xfrm>
            <a:custGeom>
              <a:avLst/>
              <a:gdLst/>
              <a:ahLst/>
              <a:cxnLst/>
              <a:rect l="l" t="t" r="r" b="b"/>
              <a:pathLst>
                <a:path w="1086277" h="206100">
                  <a:moveTo>
                    <a:pt x="0" y="0"/>
                  </a:moveTo>
                  <a:lnTo>
                    <a:pt x="1086277" y="0"/>
                  </a:lnTo>
                  <a:lnTo>
                    <a:pt x="1086277" y="206100"/>
                  </a:lnTo>
                  <a:lnTo>
                    <a:pt x="0" y="206100"/>
                  </a:lnTo>
                  <a:close/>
                </a:path>
              </a:pathLst>
            </a:custGeom>
            <a:solidFill>
              <a:srgbClr val="B5676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086277" cy="244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  Agent autonomy is moving faster than human review and static controls.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617767" y="7458710"/>
            <a:ext cx="4124459" cy="1068286"/>
            <a:chOff x="0" y="0"/>
            <a:chExt cx="1086277" cy="28135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86277" cy="281359"/>
            </a:xfrm>
            <a:custGeom>
              <a:avLst/>
              <a:gdLst/>
              <a:ahLst/>
              <a:cxnLst/>
              <a:rect l="l" t="t" r="r" b="b"/>
              <a:pathLst>
                <a:path w="1086277" h="281359">
                  <a:moveTo>
                    <a:pt x="0" y="0"/>
                  </a:moveTo>
                  <a:lnTo>
                    <a:pt x="1086277" y="0"/>
                  </a:lnTo>
                  <a:lnTo>
                    <a:pt x="1086277" y="281359"/>
                  </a:lnTo>
                  <a:lnTo>
                    <a:pt x="0" y="281359"/>
                  </a:lnTo>
                  <a:close/>
                </a:path>
              </a:pathLst>
            </a:custGeom>
            <a:solidFill>
              <a:srgbClr val="B5676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086277" cy="319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FFFFFF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  Companies must communicate cyber risk without exposing the evidence attackers can exploit.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94363" y="5734050"/>
            <a:ext cx="5316861" cy="1629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just">
              <a:lnSpc>
                <a:spcPts val="253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Poisoned Dependency and Downstream Compromise</a:t>
            </a:r>
          </a:p>
          <a:p>
            <a:pPr algn="just">
              <a:lnSpc>
                <a:spcPts val="2530"/>
              </a:lnSpc>
            </a:pPr>
            <a:endParaRPr lang="en-US" sz="2300">
              <a:solidFill>
                <a:srgbClr val="000000"/>
              </a:solidFill>
              <a:latin typeface="Trade Gothic Condensed"/>
              <a:ea typeface="Trade Gothic Condensed"/>
              <a:cs typeface="Trade Gothic Condensed"/>
              <a:sym typeface="Trade Gothic Condensed"/>
            </a:endParaRPr>
          </a:p>
          <a:p>
            <a:pPr marL="496571" lvl="1" indent="-248285" algn="just">
              <a:lnSpc>
                <a:spcPts val="253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WHAT IF every dependency and extension was verified before it ran?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164739" y="5734050"/>
            <a:ext cx="5316861" cy="1629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just">
              <a:lnSpc>
                <a:spcPts val="253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Excessive Tool Access , Credential Discovery , Sandbox Escape</a:t>
            </a:r>
          </a:p>
          <a:p>
            <a:pPr algn="just">
              <a:lnSpc>
                <a:spcPts val="2530"/>
              </a:lnSpc>
            </a:pPr>
            <a:endParaRPr lang="en-US" sz="2300">
              <a:solidFill>
                <a:srgbClr val="000000"/>
              </a:solidFill>
              <a:latin typeface="Trade Gothic Condensed"/>
              <a:ea typeface="Trade Gothic Condensed"/>
              <a:cs typeface="Trade Gothic Condensed"/>
              <a:sym typeface="Trade Gothic Condensed"/>
            </a:endParaRPr>
          </a:p>
          <a:p>
            <a:pPr marL="496571" lvl="1" indent="-248285" algn="just">
              <a:lnSpc>
                <a:spcPts val="253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WHAT IF risky AI actions could be placed on HOLD before execution?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816309" y="5673725"/>
            <a:ext cx="5316861" cy="1629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just">
              <a:lnSpc>
                <a:spcPts val="253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Sensitive IP exposure across unmonitored supplier networks.</a:t>
            </a:r>
          </a:p>
          <a:p>
            <a:pPr algn="just">
              <a:lnSpc>
                <a:spcPts val="2530"/>
              </a:lnSpc>
            </a:pPr>
            <a:endParaRPr lang="en-US" sz="2300">
              <a:solidFill>
                <a:srgbClr val="000000"/>
              </a:solidFill>
              <a:latin typeface="Trade Gothic Condensed"/>
              <a:ea typeface="Trade Gothic Condensed"/>
              <a:cs typeface="Trade Gothic Condensed"/>
              <a:sym typeface="Trade Gothic Condensed"/>
            </a:endParaRPr>
          </a:p>
          <a:p>
            <a:pPr marL="496571" lvl="1" indent="-248285" algn="just">
              <a:lnSpc>
                <a:spcPts val="253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WHAT IF a company could prove its cyber-risk posture without revealing its IP?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394363" y="236799"/>
            <a:ext cx="1915887" cy="1249101"/>
            <a:chOff x="0" y="0"/>
            <a:chExt cx="2554516" cy="1665468"/>
          </a:xfrm>
        </p:grpSpPr>
        <p:sp>
          <p:nvSpPr>
            <p:cNvPr id="40" name="Freeform 40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HELL CODE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118748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1945600" cy="22288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562"/>
                </a:lnSpc>
              </a:pPr>
              <a:r>
                <a:rPr lang="en-US" sz="5400" b="1" u="sng">
                  <a:gradFill>
                    <a:gsLst>
                      <a:gs pos="0">
                        <a:srgbClr val="000000">
                          <a:alpha val="100000"/>
                        </a:srgbClr>
                      </a:gs>
                      <a:gs pos="100000">
                        <a:srgbClr val="3533CD">
                          <a:alpha val="100000"/>
                        </a:srgbClr>
                      </a:gs>
                    </a:gsLst>
                    <a:lin ang="0"/>
                  </a:gra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</a:t>
              </a:r>
              <a:r>
                <a:rPr lang="en-US" sz="5400" b="1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VCH</a:t>
              </a:r>
            </a:p>
            <a:p>
              <a:pPr algn="ctr">
                <a:lnSpc>
                  <a:spcPts val="2575"/>
                </a:lnSpc>
              </a:pPr>
              <a:r>
                <a:rPr lang="en-US" sz="25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Knowledge, Vigilance, Control Hub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99986" y="2248"/>
            <a:ext cx="3044917" cy="1437752"/>
            <a:chOff x="0" y="0"/>
            <a:chExt cx="4499699" cy="2124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650304" y="961715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8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3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7641495" y="9516099"/>
            <a:ext cx="552017" cy="677321"/>
          </a:xfrm>
          <a:custGeom>
            <a:avLst/>
            <a:gdLst/>
            <a:ahLst/>
            <a:cxnLst/>
            <a:rect l="l" t="t" r="r" b="b"/>
            <a:pathLst>
              <a:path w="552017" h="677321">
                <a:moveTo>
                  <a:pt x="0" y="0"/>
                </a:moveTo>
                <a:lnTo>
                  <a:pt x="552017" y="0"/>
                </a:lnTo>
                <a:lnTo>
                  <a:pt x="552017" y="677322"/>
                </a:lnTo>
                <a:lnTo>
                  <a:pt x="0" y="6773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42130" y="3039255"/>
            <a:ext cx="5307709" cy="1814863"/>
            <a:chOff x="0" y="0"/>
            <a:chExt cx="1542389" cy="5273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42389" cy="527388"/>
            </a:xfrm>
            <a:custGeom>
              <a:avLst/>
              <a:gdLst/>
              <a:ahLst/>
              <a:cxnLst/>
              <a:rect l="l" t="t" r="r" b="b"/>
              <a:pathLst>
                <a:path w="1542389" h="527388">
                  <a:moveTo>
                    <a:pt x="45217" y="0"/>
                  </a:moveTo>
                  <a:lnTo>
                    <a:pt x="1497171" y="0"/>
                  </a:lnTo>
                  <a:cubicBezTo>
                    <a:pt x="1522144" y="0"/>
                    <a:pt x="1542389" y="20244"/>
                    <a:pt x="1542389" y="45217"/>
                  </a:cubicBezTo>
                  <a:lnTo>
                    <a:pt x="1542389" y="482171"/>
                  </a:lnTo>
                  <a:cubicBezTo>
                    <a:pt x="1542389" y="507144"/>
                    <a:pt x="1522144" y="527388"/>
                    <a:pt x="1497171" y="527388"/>
                  </a:cubicBezTo>
                  <a:lnTo>
                    <a:pt x="45217" y="527388"/>
                  </a:lnTo>
                  <a:cubicBezTo>
                    <a:pt x="20244" y="527388"/>
                    <a:pt x="0" y="507144"/>
                    <a:pt x="0" y="482171"/>
                  </a:cubicBezTo>
                  <a:lnTo>
                    <a:pt x="0" y="45217"/>
                  </a:lnTo>
                  <a:cubicBezTo>
                    <a:pt x="0" y="20244"/>
                    <a:pt x="20244" y="0"/>
                    <a:pt x="45217" y="0"/>
                  </a:cubicBezTo>
                  <a:close/>
                </a:path>
              </a:pathLst>
            </a:custGeom>
            <a:solidFill>
              <a:srgbClr val="C8D1D9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542389" cy="5654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439022" y="3088196"/>
            <a:ext cx="5307709" cy="2198496"/>
            <a:chOff x="0" y="0"/>
            <a:chExt cx="1542389" cy="6388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42389" cy="638870"/>
            </a:xfrm>
            <a:custGeom>
              <a:avLst/>
              <a:gdLst/>
              <a:ahLst/>
              <a:cxnLst/>
              <a:rect l="l" t="t" r="r" b="b"/>
              <a:pathLst>
                <a:path w="1542389" h="638870">
                  <a:moveTo>
                    <a:pt x="45217" y="0"/>
                  </a:moveTo>
                  <a:lnTo>
                    <a:pt x="1497171" y="0"/>
                  </a:lnTo>
                  <a:cubicBezTo>
                    <a:pt x="1522144" y="0"/>
                    <a:pt x="1542389" y="20244"/>
                    <a:pt x="1542389" y="45217"/>
                  </a:cubicBezTo>
                  <a:lnTo>
                    <a:pt x="1542389" y="593653"/>
                  </a:lnTo>
                  <a:cubicBezTo>
                    <a:pt x="1542389" y="618626"/>
                    <a:pt x="1522144" y="638870"/>
                    <a:pt x="1497171" y="638870"/>
                  </a:cubicBezTo>
                  <a:lnTo>
                    <a:pt x="45217" y="638870"/>
                  </a:lnTo>
                  <a:cubicBezTo>
                    <a:pt x="33225" y="638870"/>
                    <a:pt x="21724" y="634106"/>
                    <a:pt x="13244" y="625626"/>
                  </a:cubicBezTo>
                  <a:cubicBezTo>
                    <a:pt x="4764" y="617146"/>
                    <a:pt x="0" y="605645"/>
                    <a:pt x="0" y="593653"/>
                  </a:cubicBezTo>
                  <a:lnTo>
                    <a:pt x="0" y="45217"/>
                  </a:lnTo>
                  <a:cubicBezTo>
                    <a:pt x="0" y="20244"/>
                    <a:pt x="20244" y="0"/>
                    <a:pt x="45217" y="0"/>
                  </a:cubicBezTo>
                  <a:close/>
                </a:path>
              </a:pathLst>
            </a:custGeom>
            <a:solidFill>
              <a:srgbClr val="138E44">
                <a:alpha val="40000"/>
              </a:srgbClr>
            </a:solidFill>
            <a:ln w="9525" cap="rnd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42389" cy="676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89309" y="2176494"/>
            <a:ext cx="1838555" cy="412327"/>
            <a:chOff x="0" y="0"/>
            <a:chExt cx="362425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624250" cy="812800"/>
            </a:xfrm>
            <a:custGeom>
              <a:avLst/>
              <a:gdLst/>
              <a:ahLst/>
              <a:cxnLst/>
              <a:rect l="l" t="t" r="r" b="b"/>
              <a:pathLst>
                <a:path w="3624250" h="812800">
                  <a:moveTo>
                    <a:pt x="3624250" y="406400"/>
                  </a:moveTo>
                  <a:lnTo>
                    <a:pt x="3217850" y="0"/>
                  </a:lnTo>
                  <a:lnTo>
                    <a:pt x="321785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3217850" y="609600"/>
                  </a:lnTo>
                  <a:lnTo>
                    <a:pt x="3217850" y="812800"/>
                  </a:lnTo>
                  <a:lnTo>
                    <a:pt x="3624250" y="4064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65100"/>
              <a:ext cx="352265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 flipV="1">
            <a:off x="8630398" y="7507797"/>
            <a:ext cx="1500559" cy="718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1" name="AutoShape 21"/>
          <p:cNvSpPr/>
          <p:nvPr/>
        </p:nvSpPr>
        <p:spPr>
          <a:xfrm flipV="1">
            <a:off x="7129719" y="9725327"/>
            <a:ext cx="3008971" cy="718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22" name="Group 22"/>
          <p:cNvGrpSpPr/>
          <p:nvPr/>
        </p:nvGrpSpPr>
        <p:grpSpPr>
          <a:xfrm>
            <a:off x="12439022" y="6056603"/>
            <a:ext cx="2027033" cy="1641329"/>
            <a:chOff x="0" y="0"/>
            <a:chExt cx="533897" cy="43225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3897" cy="432258"/>
            </a:xfrm>
            <a:custGeom>
              <a:avLst/>
              <a:gdLst/>
              <a:ahLst/>
              <a:cxnLst/>
              <a:rect l="l" t="t" r="r" b="b"/>
              <a:pathLst>
                <a:path w="533897" h="432258">
                  <a:moveTo>
                    <a:pt x="533897" y="80206"/>
                  </a:moveTo>
                  <a:lnTo>
                    <a:pt x="533897" y="352052"/>
                  </a:lnTo>
                  <a:cubicBezTo>
                    <a:pt x="533897" y="373324"/>
                    <a:pt x="525447" y="393725"/>
                    <a:pt x="510406" y="408767"/>
                  </a:cubicBezTo>
                  <a:cubicBezTo>
                    <a:pt x="495364" y="423808"/>
                    <a:pt x="474963" y="432258"/>
                    <a:pt x="453691" y="432258"/>
                  </a:cubicBezTo>
                  <a:lnTo>
                    <a:pt x="80206" y="432258"/>
                  </a:lnTo>
                  <a:cubicBezTo>
                    <a:pt x="58934" y="432258"/>
                    <a:pt x="38533" y="423808"/>
                    <a:pt x="23492" y="408767"/>
                  </a:cubicBezTo>
                  <a:cubicBezTo>
                    <a:pt x="8450" y="393725"/>
                    <a:pt x="0" y="373324"/>
                    <a:pt x="0" y="352052"/>
                  </a:cubicBezTo>
                  <a:lnTo>
                    <a:pt x="0" y="80206"/>
                  </a:lnTo>
                  <a:cubicBezTo>
                    <a:pt x="0" y="58934"/>
                    <a:pt x="8450" y="38533"/>
                    <a:pt x="23492" y="23492"/>
                  </a:cubicBezTo>
                  <a:cubicBezTo>
                    <a:pt x="38533" y="8450"/>
                    <a:pt x="58934" y="0"/>
                    <a:pt x="80206" y="0"/>
                  </a:cubicBezTo>
                  <a:lnTo>
                    <a:pt x="453691" y="0"/>
                  </a:lnTo>
                  <a:cubicBezTo>
                    <a:pt x="474963" y="0"/>
                    <a:pt x="495364" y="8450"/>
                    <a:pt x="510406" y="23492"/>
                  </a:cubicBezTo>
                  <a:cubicBezTo>
                    <a:pt x="525447" y="38533"/>
                    <a:pt x="533897" y="58934"/>
                    <a:pt x="533897" y="80206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41F60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533897" cy="479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 u="sng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INSTITUTIONAL</a:t>
              </a:r>
            </a:p>
            <a:p>
              <a:pPr algn="ctr">
                <a:lnSpc>
                  <a:spcPts val="1560"/>
                </a:lnSpc>
              </a:pPr>
              <a:r>
                <a:rPr lang="en-US" sz="1300">
                  <a:solidFill>
                    <a:srgbClr val="000000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ZK Posture Attestation + NLP Audit</a:t>
              </a:r>
            </a:p>
            <a:p>
              <a:pPr algn="ctr">
                <a:lnSpc>
                  <a:spcPts val="1920"/>
                </a:lnSpc>
              </a:pPr>
              <a:endParaRPr lang="en-US" sz="13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endParaRP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Outcome: 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u="sng">
                  <a:solidFill>
                    <a:srgbClr val="000000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Cryptographic Assurance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163786" y="6029160"/>
            <a:ext cx="1969883" cy="1641329"/>
            <a:chOff x="0" y="0"/>
            <a:chExt cx="518817" cy="43228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18817" cy="432284"/>
            </a:xfrm>
            <a:custGeom>
              <a:avLst/>
              <a:gdLst/>
              <a:ahLst/>
              <a:cxnLst/>
              <a:rect l="l" t="t" r="r" b="b"/>
              <a:pathLst>
                <a:path w="518817" h="432284">
                  <a:moveTo>
                    <a:pt x="82533" y="0"/>
                  </a:moveTo>
                  <a:lnTo>
                    <a:pt x="436284" y="0"/>
                  </a:lnTo>
                  <a:cubicBezTo>
                    <a:pt x="458173" y="0"/>
                    <a:pt x="479166" y="8695"/>
                    <a:pt x="494644" y="24173"/>
                  </a:cubicBezTo>
                  <a:cubicBezTo>
                    <a:pt x="510121" y="39651"/>
                    <a:pt x="518817" y="60644"/>
                    <a:pt x="518817" y="82533"/>
                  </a:cubicBezTo>
                  <a:lnTo>
                    <a:pt x="518817" y="349751"/>
                  </a:lnTo>
                  <a:cubicBezTo>
                    <a:pt x="518817" y="395333"/>
                    <a:pt x="481866" y="432284"/>
                    <a:pt x="436284" y="432284"/>
                  </a:cubicBezTo>
                  <a:lnTo>
                    <a:pt x="82533" y="432284"/>
                  </a:lnTo>
                  <a:cubicBezTo>
                    <a:pt x="36951" y="432284"/>
                    <a:pt x="0" y="395333"/>
                    <a:pt x="0" y="349751"/>
                  </a:cubicBezTo>
                  <a:lnTo>
                    <a:pt x="0" y="82533"/>
                  </a:lnTo>
                  <a:cubicBezTo>
                    <a:pt x="0" y="36951"/>
                    <a:pt x="36951" y="0"/>
                    <a:pt x="8253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55D876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518817" cy="479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 u="sng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CONSUMER</a:t>
              </a:r>
            </a:p>
            <a:p>
              <a:pPr algn="ctr">
                <a:lnSpc>
                  <a:spcPts val="1560"/>
                </a:lnSpc>
              </a:pPr>
              <a:r>
                <a:rPr lang="en-US" sz="1300">
                  <a:solidFill>
                    <a:srgbClr val="000000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Algorithmic Disclosure &amp; Redaction</a:t>
              </a:r>
            </a:p>
            <a:p>
              <a:pPr algn="ctr">
                <a:lnSpc>
                  <a:spcPts val="1920"/>
                </a:lnSpc>
              </a:pPr>
              <a:endParaRPr lang="en-US" sz="1300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endParaRPr>
            </a:p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Outcome: 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u="sng">
                  <a:solidFill>
                    <a:srgbClr val="000000"/>
                  </a:solidFill>
                  <a:latin typeface="Trade Gothic Condensed"/>
                  <a:ea typeface="Trade Gothic Condensed"/>
                  <a:cs typeface="Trade Gothic Condensed"/>
                  <a:sym typeface="Trade Gothic Condensed"/>
                </a:rPr>
                <a:t>Zero-Panic Public Trust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28700" y="1505697"/>
            <a:ext cx="16090680" cy="5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69"/>
              </a:lnSpc>
            </a:pPr>
            <a:r>
              <a:rPr lang="en-US" sz="1869" b="1">
                <a:solidFill>
                  <a:srgbClr val="041F60"/>
                </a:solidFill>
                <a:latin typeface="Nourd Bold"/>
                <a:ea typeface="Nourd Bold"/>
                <a:cs typeface="Nourd Bold"/>
                <a:sym typeface="Nourd Bold"/>
              </a:rPr>
              <a:t>"KVCH creates a sovereign ZK powered Cyberdome—an integrated defense umbrella that encircles workspaces to intercept unauthorized runtime actions, automate verified remediation, and project isolated threat visibility across every enterprise tier."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567987" y="2071719"/>
            <a:ext cx="2421321" cy="50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  <a:spcBef>
                <a:spcPct val="0"/>
              </a:spcBef>
            </a:pPr>
            <a:r>
              <a:rPr lang="en-US" sz="263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PREVENT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48776" y="3093646"/>
            <a:ext cx="486983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CONTINUOUS RISK QUANTIFICATION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288178" y="3002151"/>
            <a:ext cx="5307709" cy="2854774"/>
            <a:chOff x="0" y="0"/>
            <a:chExt cx="1542389" cy="82958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42389" cy="829580"/>
            </a:xfrm>
            <a:custGeom>
              <a:avLst/>
              <a:gdLst/>
              <a:ahLst/>
              <a:cxnLst/>
              <a:rect l="l" t="t" r="r" b="b"/>
              <a:pathLst>
                <a:path w="1542389" h="829580">
                  <a:moveTo>
                    <a:pt x="45217" y="0"/>
                  </a:moveTo>
                  <a:lnTo>
                    <a:pt x="1497171" y="0"/>
                  </a:lnTo>
                  <a:cubicBezTo>
                    <a:pt x="1522144" y="0"/>
                    <a:pt x="1542389" y="20244"/>
                    <a:pt x="1542389" y="45217"/>
                  </a:cubicBezTo>
                  <a:lnTo>
                    <a:pt x="1542389" y="784363"/>
                  </a:lnTo>
                  <a:cubicBezTo>
                    <a:pt x="1542389" y="809336"/>
                    <a:pt x="1522144" y="829580"/>
                    <a:pt x="1497171" y="829580"/>
                  </a:cubicBezTo>
                  <a:lnTo>
                    <a:pt x="45217" y="829580"/>
                  </a:lnTo>
                  <a:cubicBezTo>
                    <a:pt x="33225" y="829580"/>
                    <a:pt x="21724" y="824816"/>
                    <a:pt x="13244" y="816337"/>
                  </a:cubicBezTo>
                  <a:cubicBezTo>
                    <a:pt x="4764" y="807857"/>
                    <a:pt x="0" y="796356"/>
                    <a:pt x="0" y="784363"/>
                  </a:cubicBezTo>
                  <a:lnTo>
                    <a:pt x="0" y="45217"/>
                  </a:lnTo>
                  <a:cubicBezTo>
                    <a:pt x="0" y="20244"/>
                    <a:pt x="20244" y="0"/>
                    <a:pt x="45217" y="0"/>
                  </a:cubicBezTo>
                  <a:close/>
                </a:path>
              </a:pathLst>
            </a:custGeom>
            <a:solidFill>
              <a:srgbClr val="F93262">
                <a:alpha val="40000"/>
              </a:srgbClr>
            </a:solidFill>
            <a:ln w="9525" cap="rnd">
              <a:solidFill>
                <a:srgbClr val="000000">
                  <a:alpha val="40000"/>
                </a:srgbClr>
              </a:solidFill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542389" cy="8676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34" name="AutoShape 34"/>
          <p:cNvSpPr/>
          <p:nvPr/>
        </p:nvSpPr>
        <p:spPr>
          <a:xfrm>
            <a:off x="15908219" y="5271452"/>
            <a:ext cx="0" cy="59626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AutoShape 35"/>
          <p:cNvSpPr/>
          <p:nvPr/>
        </p:nvSpPr>
        <p:spPr>
          <a:xfrm>
            <a:off x="13669354" y="5271452"/>
            <a:ext cx="0" cy="59626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AutoShape 36"/>
          <p:cNvSpPr/>
          <p:nvPr/>
        </p:nvSpPr>
        <p:spPr>
          <a:xfrm flipH="1">
            <a:off x="13661185" y="5886767"/>
            <a:ext cx="225655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>
            <a:off x="14763410" y="5899772"/>
            <a:ext cx="7647" cy="9431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38" name="Group 38"/>
          <p:cNvGrpSpPr/>
          <p:nvPr/>
        </p:nvGrpSpPr>
        <p:grpSpPr>
          <a:xfrm>
            <a:off x="11769665" y="7725168"/>
            <a:ext cx="5596581" cy="2472779"/>
            <a:chOff x="0" y="0"/>
            <a:chExt cx="1660574" cy="73370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660574" cy="733704"/>
            </a:xfrm>
            <a:custGeom>
              <a:avLst/>
              <a:gdLst/>
              <a:ahLst/>
              <a:cxnLst/>
              <a:rect l="l" t="t" r="r" b="b"/>
              <a:pathLst>
                <a:path w="1660574" h="733704">
                  <a:moveTo>
                    <a:pt x="30433" y="0"/>
                  </a:moveTo>
                  <a:lnTo>
                    <a:pt x="1630141" y="0"/>
                  </a:lnTo>
                  <a:cubicBezTo>
                    <a:pt x="1646949" y="0"/>
                    <a:pt x="1660574" y="13625"/>
                    <a:pt x="1660574" y="30433"/>
                  </a:cubicBezTo>
                  <a:lnTo>
                    <a:pt x="1660574" y="703270"/>
                  </a:lnTo>
                  <a:cubicBezTo>
                    <a:pt x="1660574" y="711342"/>
                    <a:pt x="1657367" y="719083"/>
                    <a:pt x="1651660" y="724790"/>
                  </a:cubicBezTo>
                  <a:cubicBezTo>
                    <a:pt x="1645953" y="730497"/>
                    <a:pt x="1638212" y="733704"/>
                    <a:pt x="1630141" y="733704"/>
                  </a:cubicBezTo>
                  <a:lnTo>
                    <a:pt x="30433" y="733704"/>
                  </a:lnTo>
                  <a:cubicBezTo>
                    <a:pt x="22362" y="733704"/>
                    <a:pt x="14621" y="730497"/>
                    <a:pt x="8914" y="724790"/>
                  </a:cubicBezTo>
                  <a:cubicBezTo>
                    <a:pt x="3206" y="719083"/>
                    <a:pt x="0" y="711342"/>
                    <a:pt x="0" y="703270"/>
                  </a:cubicBezTo>
                  <a:lnTo>
                    <a:pt x="0" y="30433"/>
                  </a:lnTo>
                  <a:cubicBezTo>
                    <a:pt x="0" y="22362"/>
                    <a:pt x="3206" y="14621"/>
                    <a:pt x="8914" y="8914"/>
                  </a:cubicBezTo>
                  <a:cubicBezTo>
                    <a:pt x="14621" y="3206"/>
                    <a:pt x="22362" y="0"/>
                    <a:pt x="30433" y="0"/>
                  </a:cubicBezTo>
                  <a:close/>
                </a:path>
              </a:pathLst>
            </a:custGeom>
            <a:solidFill>
              <a:srgbClr val="9CB6D8">
                <a:alpha val="78824"/>
              </a:srgbClr>
            </a:solidFill>
            <a:ln w="28575" cap="rnd">
              <a:solidFill>
                <a:srgbClr val="000000">
                  <a:alpha val="78824"/>
                </a:srgbClr>
              </a:solidFill>
              <a:prstDash val="solid"/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1660574" cy="7718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858951" y="7812579"/>
            <a:ext cx="54012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sz="2199" b="1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BALANCE SHEET PRESERVATION (DEFENSIVE ROI)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122534" y="8236670"/>
            <a:ext cx="4996847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0"/>
              </a:lnSpc>
            </a:pPr>
            <a:r>
              <a:rPr lang="en-US" sz="1975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 Whenever a ticket is verified closed with fresh telemetry, KVCH re-runs the Monte Carlo simulation to display:</a:t>
            </a:r>
          </a:p>
          <a:p>
            <a:pPr algn="l">
              <a:lnSpc>
                <a:spcPts val="2370"/>
              </a:lnSpc>
            </a:pPr>
            <a:r>
              <a:rPr lang="en-US" sz="1975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             </a:t>
            </a:r>
            <a:r>
              <a:rPr lang="en-US" sz="1975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• Inherent Risk ($VaR): $1.2M</a:t>
            </a:r>
            <a:r>
              <a:rPr lang="en-US" sz="1975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 </a:t>
            </a:r>
          </a:p>
          <a:p>
            <a:pPr algn="l">
              <a:lnSpc>
                <a:spcPts val="2370"/>
              </a:lnSpc>
            </a:pPr>
            <a:r>
              <a:rPr lang="en-US" sz="1975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            </a:t>
            </a:r>
            <a:r>
              <a:rPr lang="en-US" sz="1975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• Residual Risk ($VaR): $140K </a:t>
            </a:r>
          </a:p>
          <a:p>
            <a:pPr algn="l">
              <a:lnSpc>
                <a:spcPts val="2370"/>
              </a:lnSpc>
            </a:pPr>
            <a:r>
              <a:rPr lang="en-US" sz="1975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         </a:t>
            </a:r>
            <a:r>
              <a:rPr lang="en-US" sz="1975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   • Net Risk Reduced: $1.06M </a:t>
            </a:r>
            <a:r>
              <a:rPr lang="en-US" sz="1975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(Direct proof of                     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51881" y="9654540"/>
            <a:ext cx="4996847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0"/>
              </a:lnSpc>
              <a:spcBef>
                <a:spcPct val="0"/>
              </a:spcBef>
            </a:pPr>
            <a:r>
              <a:rPr lang="en-US" sz="1975">
                <a:solidFill>
                  <a:srgbClr val="000000"/>
                </a:solidFill>
                <a:latin typeface="Trade Gothic Condensed"/>
                <a:ea typeface="Trade Gothic Condensed"/>
                <a:cs typeface="Trade Gothic Condensed"/>
                <a:sym typeface="Trade Gothic Condensed"/>
              </a:rPr>
              <a:t>defensive ROI).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35514" y="3078671"/>
            <a:ext cx="4247687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RUNTIME ACTION GUARDRAILS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439022" y="2088611"/>
            <a:ext cx="2332035" cy="50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  <a:spcBef>
                <a:spcPct val="0"/>
              </a:spcBef>
            </a:pPr>
            <a:r>
              <a:rPr lang="en-US" sz="263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DISCLOSE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0532852" y="2176494"/>
            <a:ext cx="1622640" cy="412327"/>
            <a:chOff x="0" y="0"/>
            <a:chExt cx="3198629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198629" cy="812800"/>
            </a:xfrm>
            <a:custGeom>
              <a:avLst/>
              <a:gdLst/>
              <a:ahLst/>
              <a:cxnLst/>
              <a:rect l="l" t="t" r="r" b="b"/>
              <a:pathLst>
                <a:path w="3198629" h="812800">
                  <a:moveTo>
                    <a:pt x="3198629" y="406400"/>
                  </a:moveTo>
                  <a:lnTo>
                    <a:pt x="2792229" y="0"/>
                  </a:lnTo>
                  <a:lnTo>
                    <a:pt x="2792229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2792229" y="609600"/>
                  </a:lnTo>
                  <a:lnTo>
                    <a:pt x="2792229" y="812800"/>
                  </a:lnTo>
                  <a:lnTo>
                    <a:pt x="3198629" y="406400"/>
                  </a:lnTo>
                  <a:close/>
                </a:path>
              </a:pathLst>
            </a:custGeom>
            <a:solidFill>
              <a:srgbClr val="231F20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165100"/>
              <a:ext cx="309702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7825781" y="2071719"/>
            <a:ext cx="2421321" cy="50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6"/>
              </a:lnSpc>
              <a:spcBef>
                <a:spcPct val="0"/>
              </a:spcBef>
            </a:pPr>
            <a:r>
              <a:rPr lang="en-US" sz="2633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QUANTIFY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288178" y="3186795"/>
            <a:ext cx="5307709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 • Correlate findings, asset criticality, business dependencies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   and control effectiveness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 • Estimate Expected Annual Loss, VaR and confidence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 • Identify the technical drivers behind financial exposure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539462" y="4537198"/>
            <a:ext cx="486983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DECISION &amp; RESPONSE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288178" y="4905712"/>
            <a:ext cx="522912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</a:t>
            </a:r>
            <a:r>
              <a:rPr lang="en-US" sz="1600" b="1" dirty="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Recommend</a:t>
            </a:r>
            <a:r>
              <a:rPr lang="en-US" sz="1800" b="1" dirty="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the highest-value mitigation under a fixed budget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 • Route work to the right owner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 • Verify remediation using fresh telemetry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617386" y="3566477"/>
            <a:ext cx="4950980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• Company selects an approved risk range or threat pattern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• ZK proves policy compliance, evidence freshness and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  approval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• Stakeholders verify the claim without seeing raw logs, IP,</a:t>
            </a:r>
          </a:p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  PII, internal topology or exact private risk values</a:t>
            </a:r>
          </a:p>
        </p:txBody>
      </p:sp>
      <p:sp>
        <p:nvSpPr>
          <p:cNvPr id="54" name="Freeform 54"/>
          <p:cNvSpPr/>
          <p:nvPr/>
        </p:nvSpPr>
        <p:spPr>
          <a:xfrm>
            <a:off x="735514" y="5968924"/>
            <a:ext cx="10510277" cy="4416661"/>
          </a:xfrm>
          <a:custGeom>
            <a:avLst/>
            <a:gdLst/>
            <a:ahLst/>
            <a:cxnLst/>
            <a:rect l="l" t="t" r="r" b="b"/>
            <a:pathLst>
              <a:path w="10510277" h="4416661">
                <a:moveTo>
                  <a:pt x="0" y="0"/>
                </a:moveTo>
                <a:lnTo>
                  <a:pt x="10510276" y="0"/>
                </a:lnTo>
                <a:lnTo>
                  <a:pt x="10510276" y="4416661"/>
                </a:lnTo>
                <a:lnTo>
                  <a:pt x="0" y="44166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16" t="-4999" r="-1631" b="-200"/>
            </a:stretch>
          </a:blipFill>
        </p:spPr>
      </p:sp>
      <p:grpSp>
        <p:nvGrpSpPr>
          <p:cNvPr id="55" name="Group 55"/>
          <p:cNvGrpSpPr/>
          <p:nvPr/>
        </p:nvGrpSpPr>
        <p:grpSpPr>
          <a:xfrm>
            <a:off x="4374137" y="9303078"/>
            <a:ext cx="2386266" cy="934253"/>
            <a:chOff x="0" y="0"/>
            <a:chExt cx="3181688" cy="124567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181688" cy="1245670"/>
            </a:xfrm>
            <a:custGeom>
              <a:avLst/>
              <a:gdLst/>
              <a:ahLst/>
              <a:cxnLst/>
              <a:rect l="l" t="t" r="r" b="b"/>
              <a:pathLst>
                <a:path w="3181688" h="1245670">
                  <a:moveTo>
                    <a:pt x="0" y="0"/>
                  </a:moveTo>
                  <a:lnTo>
                    <a:pt x="3181688" y="0"/>
                  </a:lnTo>
                  <a:lnTo>
                    <a:pt x="3181688" y="1245670"/>
                  </a:lnTo>
                  <a:lnTo>
                    <a:pt x="0" y="1245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91" b="-191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327895" y="381615"/>
              <a:ext cx="2347502" cy="3832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06"/>
                </a:lnSpc>
              </a:pPr>
              <a:r>
                <a:rPr lang="en-US" sz="1839" b="1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QUANTIFICATION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888996" y="8721668"/>
            <a:ext cx="2266344" cy="1447773"/>
            <a:chOff x="0" y="0"/>
            <a:chExt cx="3021792" cy="193036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021792" cy="1930364"/>
            </a:xfrm>
            <a:custGeom>
              <a:avLst/>
              <a:gdLst/>
              <a:ahLst/>
              <a:cxnLst/>
              <a:rect l="l" t="t" r="r" b="b"/>
              <a:pathLst>
                <a:path w="3021792" h="1930364">
                  <a:moveTo>
                    <a:pt x="0" y="0"/>
                  </a:moveTo>
                  <a:lnTo>
                    <a:pt x="3021792" y="0"/>
                  </a:lnTo>
                  <a:lnTo>
                    <a:pt x="3021792" y="1930364"/>
                  </a:lnTo>
                  <a:lnTo>
                    <a:pt x="0" y="1930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91" b="-191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523202" y="300755"/>
              <a:ext cx="1443553" cy="2412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8"/>
                </a:lnSpc>
              </a:pPr>
              <a:r>
                <a:rPr lang="en-US" sz="1198" b="1">
                  <a:solidFill>
                    <a:srgbClr val="FFFFFF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TERMINAL PROOF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20598" y="694253"/>
              <a:ext cx="2380596" cy="10461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56"/>
                </a:lnSpc>
              </a:pPr>
              <a:r>
                <a:rPr lang="en-US" sz="1047" b="1">
                  <a:solidFill>
                    <a:srgbClr val="00BF6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&gt; boundary secured</a:t>
              </a:r>
            </a:p>
            <a:p>
              <a:pPr algn="l">
                <a:lnSpc>
                  <a:spcPts val="1256"/>
                </a:lnSpc>
              </a:pPr>
              <a:r>
                <a:rPr lang="en-US" sz="1047" b="1">
                  <a:solidFill>
                    <a:srgbClr val="00BF6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&gt; enclave isolated (sovereign)</a:t>
              </a:r>
            </a:p>
            <a:p>
              <a:pPr algn="l">
                <a:lnSpc>
                  <a:spcPts val="1256"/>
                </a:lnSpc>
              </a:pPr>
              <a:r>
                <a:rPr lang="en-US" sz="1047" b="1">
                  <a:solidFill>
                    <a:srgbClr val="00BF6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&gt; threat triage active</a:t>
              </a:r>
            </a:p>
            <a:p>
              <a:pPr algn="l">
                <a:lnSpc>
                  <a:spcPts val="1256"/>
                </a:lnSpc>
              </a:pPr>
              <a:r>
                <a:rPr lang="en-US" sz="1047" b="1">
                  <a:solidFill>
                    <a:srgbClr val="00BF6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&gt; server optimized</a:t>
              </a:r>
            </a:p>
            <a:p>
              <a:pPr algn="l">
                <a:lnSpc>
                  <a:spcPts val="1256"/>
                </a:lnSpc>
              </a:pPr>
              <a:r>
                <a:rPr lang="en-US" sz="1047" b="1">
                  <a:solidFill>
                    <a:srgbClr val="00BF63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&gt; system protected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3022168" y="5961700"/>
            <a:ext cx="5201852" cy="342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3"/>
              </a:lnSpc>
            </a:pPr>
            <a:r>
              <a:rPr lang="en-US" sz="2311" b="1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KVCH CYBERDOME ARCHITECTURE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41534" y="7343896"/>
            <a:ext cx="860306" cy="415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2"/>
              </a:lnSpc>
            </a:pPr>
            <a:r>
              <a:rPr lang="en-US" sz="1369" b="1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Sovereign Enslave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804227" y="7979811"/>
            <a:ext cx="2160769" cy="197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2"/>
              </a:lnSpc>
            </a:pPr>
            <a:r>
              <a:rPr lang="en-US" sz="1343" b="1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Knapsack Capital Solver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41392" y="6645698"/>
            <a:ext cx="1900677" cy="197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2"/>
              </a:lnSpc>
            </a:pPr>
            <a:r>
              <a:rPr lang="en-US" sz="1343" b="1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Zero-Trust Boundary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444098" y="6645698"/>
            <a:ext cx="2700962" cy="197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2"/>
              </a:lnSpc>
            </a:pPr>
            <a:r>
              <a:rPr lang="en-US" sz="1343" b="1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Air-Gapped Telemetry Capture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124341" y="6890680"/>
            <a:ext cx="1340477" cy="155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2"/>
              </a:lnSpc>
            </a:pPr>
            <a:r>
              <a:rPr lang="en-US" sz="1052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(Auto-trust severable)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564141" y="7318360"/>
            <a:ext cx="2420862" cy="197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2"/>
              </a:lnSpc>
            </a:pPr>
            <a:r>
              <a:rPr lang="en-US" sz="1343" b="1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Autonomous Threat Bridge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41392" y="7949292"/>
            <a:ext cx="860306" cy="415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2"/>
              </a:lnSpc>
            </a:pPr>
            <a:r>
              <a:rPr lang="en-US" sz="1369" b="1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Sovereign Boundary</a:t>
            </a:r>
          </a:p>
        </p:txBody>
      </p:sp>
      <p:sp>
        <p:nvSpPr>
          <p:cNvPr id="70" name="Freeform 70"/>
          <p:cNvSpPr/>
          <p:nvPr/>
        </p:nvSpPr>
        <p:spPr>
          <a:xfrm>
            <a:off x="6541575" y="9318907"/>
            <a:ext cx="2865604" cy="934253"/>
          </a:xfrm>
          <a:custGeom>
            <a:avLst/>
            <a:gdLst/>
            <a:ahLst/>
            <a:cxnLst/>
            <a:rect l="l" t="t" r="r" b="b"/>
            <a:pathLst>
              <a:path w="2865604" h="934253">
                <a:moveTo>
                  <a:pt x="0" y="0"/>
                </a:moveTo>
                <a:lnTo>
                  <a:pt x="2865604" y="0"/>
                </a:lnTo>
                <a:lnTo>
                  <a:pt x="2865604" y="934252"/>
                </a:lnTo>
                <a:lnTo>
                  <a:pt x="0" y="9342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91" b="-191"/>
            </a:stretch>
          </a:blipFill>
        </p:spPr>
      </p:sp>
      <p:sp>
        <p:nvSpPr>
          <p:cNvPr id="71" name="TextBox 71"/>
          <p:cNvSpPr txBox="1"/>
          <p:nvPr/>
        </p:nvSpPr>
        <p:spPr>
          <a:xfrm>
            <a:off x="7321436" y="9580705"/>
            <a:ext cx="700249" cy="21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0"/>
              </a:lnSpc>
            </a:pPr>
            <a:r>
              <a:rPr lang="en-US" sz="1450" b="1">
                <a:solidFill>
                  <a:srgbClr val="000000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Change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052946" y="9518421"/>
            <a:ext cx="1100392" cy="363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2424" b="1">
                <a:solidFill>
                  <a:srgbClr val="005001"/>
                </a:solidFill>
                <a:latin typeface="Nourd Semi-Bold"/>
                <a:ea typeface="Nourd Semi-Bold"/>
                <a:cs typeface="Nourd Semi-Bold"/>
                <a:sym typeface="Nourd Semi-Bold"/>
              </a:rPr>
              <a:t>$1.00M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93699" y="3215818"/>
            <a:ext cx="5307709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 • Inspect IDE, Git, AI-agent and extension actions before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    execution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 • Allow / Hold / Block actions using policy, risk and context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 • Scan dependencies, model artifacts, packages and CI/CD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     workflows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394363" y="236799"/>
            <a:ext cx="1915887" cy="1249101"/>
            <a:chOff x="0" y="0"/>
            <a:chExt cx="2554516" cy="1665468"/>
          </a:xfrm>
        </p:grpSpPr>
        <p:sp>
          <p:nvSpPr>
            <p:cNvPr id="75" name="Freeform 75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HELL CODE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2726135" y="3081808"/>
            <a:ext cx="4502783" cy="376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spcBef>
                <a:spcPct val="0"/>
              </a:spcBef>
            </a:pPr>
            <a:r>
              <a:rPr lang="en-US" sz="20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Privacy First Disclosure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96117" y="1696077"/>
            <a:ext cx="3904131" cy="3005905"/>
            <a:chOff x="0" y="0"/>
            <a:chExt cx="523231" cy="402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3231" cy="402806"/>
            </a:xfrm>
            <a:custGeom>
              <a:avLst/>
              <a:gdLst/>
              <a:ahLst/>
              <a:cxnLst/>
              <a:rect l="l" t="t" r="r" b="b"/>
              <a:pathLst>
                <a:path w="523231" h="402806">
                  <a:moveTo>
                    <a:pt x="523231" y="41643"/>
                  </a:moveTo>
                  <a:lnTo>
                    <a:pt x="523231" y="361162"/>
                  </a:lnTo>
                  <a:cubicBezTo>
                    <a:pt x="523231" y="372207"/>
                    <a:pt x="518844" y="382799"/>
                    <a:pt x="511034" y="390609"/>
                  </a:cubicBezTo>
                  <a:cubicBezTo>
                    <a:pt x="503225" y="398418"/>
                    <a:pt x="492633" y="402806"/>
                    <a:pt x="481588" y="402806"/>
                  </a:cubicBezTo>
                  <a:lnTo>
                    <a:pt x="41643" y="402806"/>
                  </a:lnTo>
                  <a:cubicBezTo>
                    <a:pt x="30599" y="402806"/>
                    <a:pt x="20007" y="398418"/>
                    <a:pt x="12197" y="390609"/>
                  </a:cubicBezTo>
                  <a:cubicBezTo>
                    <a:pt x="4387" y="382799"/>
                    <a:pt x="0" y="372207"/>
                    <a:pt x="0" y="361162"/>
                  </a:cubicBezTo>
                  <a:lnTo>
                    <a:pt x="0" y="41643"/>
                  </a:lnTo>
                  <a:cubicBezTo>
                    <a:pt x="0" y="30599"/>
                    <a:pt x="4387" y="20007"/>
                    <a:pt x="12197" y="12197"/>
                  </a:cubicBezTo>
                  <a:cubicBezTo>
                    <a:pt x="20007" y="4387"/>
                    <a:pt x="30599" y="0"/>
                    <a:pt x="41643" y="0"/>
                  </a:cubicBezTo>
                  <a:lnTo>
                    <a:pt x="481588" y="0"/>
                  </a:lnTo>
                  <a:cubicBezTo>
                    <a:pt x="492633" y="0"/>
                    <a:pt x="503225" y="4387"/>
                    <a:pt x="511034" y="12197"/>
                  </a:cubicBezTo>
                  <a:cubicBezTo>
                    <a:pt x="518844" y="20007"/>
                    <a:pt x="523231" y="30599"/>
                    <a:pt x="523231" y="41643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41F6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3231" cy="450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976969" y="8049265"/>
            <a:ext cx="2067934" cy="1579263"/>
            <a:chOff x="0" y="0"/>
            <a:chExt cx="281951" cy="2152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1951" cy="215299"/>
            </a:xfrm>
            <a:custGeom>
              <a:avLst/>
              <a:gdLst/>
              <a:ahLst/>
              <a:cxnLst/>
              <a:rect l="l" t="t" r="r" b="b"/>
              <a:pathLst>
                <a:path w="281951" h="215299">
                  <a:moveTo>
                    <a:pt x="281951" y="78620"/>
                  </a:moveTo>
                  <a:lnTo>
                    <a:pt x="281951" y="136679"/>
                  </a:lnTo>
                  <a:cubicBezTo>
                    <a:pt x="281951" y="157530"/>
                    <a:pt x="273668" y="177528"/>
                    <a:pt x="258924" y="192272"/>
                  </a:cubicBezTo>
                  <a:cubicBezTo>
                    <a:pt x="244180" y="207016"/>
                    <a:pt x="224182" y="215299"/>
                    <a:pt x="203331" y="215299"/>
                  </a:cubicBezTo>
                  <a:lnTo>
                    <a:pt x="78620" y="215299"/>
                  </a:lnTo>
                  <a:cubicBezTo>
                    <a:pt x="57768" y="215299"/>
                    <a:pt x="37771" y="207016"/>
                    <a:pt x="23027" y="192272"/>
                  </a:cubicBezTo>
                  <a:cubicBezTo>
                    <a:pt x="8283" y="177528"/>
                    <a:pt x="0" y="157530"/>
                    <a:pt x="0" y="136679"/>
                  </a:cubicBezTo>
                  <a:lnTo>
                    <a:pt x="0" y="78620"/>
                  </a:lnTo>
                  <a:cubicBezTo>
                    <a:pt x="0" y="57768"/>
                    <a:pt x="8283" y="37771"/>
                    <a:pt x="23027" y="23027"/>
                  </a:cubicBezTo>
                  <a:cubicBezTo>
                    <a:pt x="37771" y="8283"/>
                    <a:pt x="57768" y="0"/>
                    <a:pt x="78620" y="0"/>
                  </a:cubicBezTo>
                  <a:lnTo>
                    <a:pt x="203331" y="0"/>
                  </a:lnTo>
                  <a:cubicBezTo>
                    <a:pt x="224182" y="0"/>
                    <a:pt x="244180" y="8283"/>
                    <a:pt x="258924" y="23027"/>
                  </a:cubicBezTo>
                  <a:cubicBezTo>
                    <a:pt x="273668" y="37771"/>
                    <a:pt x="281951" y="57768"/>
                    <a:pt x="281951" y="78620"/>
                  </a:cubicBezTo>
                  <a:close/>
                </a:path>
              </a:pathLst>
            </a:custGeom>
            <a:ln w="19050" cap="rnd">
              <a:solidFill>
                <a:srgbClr val="041F6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81951" cy="262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891965" y="8075564"/>
            <a:ext cx="2227919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 u="sng" dirty="0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ZK LAYER</a:t>
            </a:r>
          </a:p>
        </p:txBody>
      </p:sp>
      <p:sp>
        <p:nvSpPr>
          <p:cNvPr id="14" name="Freeform 14"/>
          <p:cNvSpPr/>
          <p:nvPr/>
        </p:nvSpPr>
        <p:spPr>
          <a:xfrm>
            <a:off x="0" y="116818"/>
            <a:ext cx="13855481" cy="9341225"/>
          </a:xfrm>
          <a:custGeom>
            <a:avLst/>
            <a:gdLst/>
            <a:ahLst/>
            <a:cxnLst/>
            <a:rect l="l" t="t" r="r" b="b"/>
            <a:pathLst>
              <a:path w="14207561" h="9341225">
                <a:moveTo>
                  <a:pt x="0" y="0"/>
                </a:moveTo>
                <a:lnTo>
                  <a:pt x="14207561" y="0"/>
                </a:lnTo>
                <a:lnTo>
                  <a:pt x="14207561" y="9341225"/>
                </a:lnTo>
                <a:lnTo>
                  <a:pt x="0" y="9341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0465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37708" y="-149130"/>
            <a:ext cx="8251336" cy="1395319"/>
            <a:chOff x="0" y="0"/>
            <a:chExt cx="13518449" cy="2286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518449" cy="2286000"/>
            </a:xfrm>
            <a:custGeom>
              <a:avLst/>
              <a:gdLst/>
              <a:ahLst/>
              <a:cxnLst/>
              <a:rect l="l" t="t" r="r" b="b"/>
              <a:pathLst>
                <a:path w="13518449" h="2286000">
                  <a:moveTo>
                    <a:pt x="0" y="0"/>
                  </a:moveTo>
                  <a:lnTo>
                    <a:pt x="13518449" y="0"/>
                  </a:lnTo>
                  <a:lnTo>
                    <a:pt x="13518449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7056" r="-62338" b="-13705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3518449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156367" y="8955627"/>
            <a:ext cx="1718825" cy="552451"/>
          </a:xfrm>
          <a:custGeom>
            <a:avLst/>
            <a:gdLst/>
            <a:ahLst/>
            <a:cxnLst/>
            <a:rect l="l" t="t" r="r" b="b"/>
            <a:pathLst>
              <a:path w="1932928" h="639508">
                <a:moveTo>
                  <a:pt x="0" y="0"/>
                </a:moveTo>
                <a:lnTo>
                  <a:pt x="1932928" y="0"/>
                </a:lnTo>
                <a:lnTo>
                  <a:pt x="1932928" y="639508"/>
                </a:lnTo>
                <a:lnTo>
                  <a:pt x="0" y="639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048" b="-98203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635228" y="3514293"/>
            <a:ext cx="1348330" cy="571692"/>
          </a:xfrm>
          <a:custGeom>
            <a:avLst/>
            <a:gdLst/>
            <a:ahLst/>
            <a:cxnLst/>
            <a:rect l="l" t="t" r="r" b="b"/>
            <a:pathLst>
              <a:path w="1348330" h="571692">
                <a:moveTo>
                  <a:pt x="0" y="0"/>
                </a:moveTo>
                <a:lnTo>
                  <a:pt x="1348331" y="0"/>
                </a:lnTo>
                <a:lnTo>
                  <a:pt x="1348331" y="571692"/>
                </a:lnTo>
                <a:lnTo>
                  <a:pt x="0" y="5716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554200" y="8802517"/>
            <a:ext cx="732278" cy="732278"/>
          </a:xfrm>
          <a:custGeom>
            <a:avLst/>
            <a:gdLst/>
            <a:ahLst/>
            <a:cxnLst/>
            <a:rect l="l" t="t" r="r" b="b"/>
            <a:pathLst>
              <a:path w="732278" h="732278">
                <a:moveTo>
                  <a:pt x="0" y="0"/>
                </a:moveTo>
                <a:lnTo>
                  <a:pt x="732278" y="0"/>
                </a:lnTo>
                <a:lnTo>
                  <a:pt x="732278" y="732278"/>
                </a:lnTo>
                <a:lnTo>
                  <a:pt x="0" y="7322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4096117" y="4768657"/>
            <a:ext cx="3917041" cy="3080584"/>
            <a:chOff x="0" y="0"/>
            <a:chExt cx="524962" cy="4128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24962" cy="412813"/>
            </a:xfrm>
            <a:custGeom>
              <a:avLst/>
              <a:gdLst/>
              <a:ahLst/>
              <a:cxnLst/>
              <a:rect l="l" t="t" r="r" b="b"/>
              <a:pathLst>
                <a:path w="524962" h="412813">
                  <a:moveTo>
                    <a:pt x="524962" y="41506"/>
                  </a:moveTo>
                  <a:lnTo>
                    <a:pt x="524962" y="371307"/>
                  </a:lnTo>
                  <a:cubicBezTo>
                    <a:pt x="524962" y="394230"/>
                    <a:pt x="506379" y="412813"/>
                    <a:pt x="483456" y="412813"/>
                  </a:cubicBezTo>
                  <a:lnTo>
                    <a:pt x="41506" y="412813"/>
                  </a:lnTo>
                  <a:cubicBezTo>
                    <a:pt x="30498" y="412813"/>
                    <a:pt x="19941" y="408440"/>
                    <a:pt x="12157" y="400656"/>
                  </a:cubicBezTo>
                  <a:cubicBezTo>
                    <a:pt x="4373" y="392872"/>
                    <a:pt x="0" y="382315"/>
                    <a:pt x="0" y="371307"/>
                  </a:cubicBezTo>
                  <a:lnTo>
                    <a:pt x="0" y="41506"/>
                  </a:lnTo>
                  <a:cubicBezTo>
                    <a:pt x="0" y="18583"/>
                    <a:pt x="18583" y="0"/>
                    <a:pt x="41506" y="0"/>
                  </a:cubicBezTo>
                  <a:lnTo>
                    <a:pt x="483456" y="0"/>
                  </a:lnTo>
                  <a:cubicBezTo>
                    <a:pt x="506379" y="0"/>
                    <a:pt x="524962" y="18583"/>
                    <a:pt x="524962" y="41506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41F60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524962" cy="4604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4349371" y="5440201"/>
            <a:ext cx="1992644" cy="625569"/>
          </a:xfrm>
          <a:custGeom>
            <a:avLst/>
            <a:gdLst/>
            <a:ahLst/>
            <a:cxnLst/>
            <a:rect l="l" t="t" r="r" b="b"/>
            <a:pathLst>
              <a:path w="1992644" h="625569">
                <a:moveTo>
                  <a:pt x="0" y="0"/>
                </a:moveTo>
                <a:lnTo>
                  <a:pt x="1992644" y="0"/>
                </a:lnTo>
                <a:lnTo>
                  <a:pt x="1992644" y="625569"/>
                </a:lnTo>
                <a:lnTo>
                  <a:pt x="0" y="6255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7539" b="-39457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4349371" y="6088406"/>
            <a:ext cx="2228047" cy="624562"/>
          </a:xfrm>
          <a:custGeom>
            <a:avLst/>
            <a:gdLst/>
            <a:ahLst/>
            <a:cxnLst/>
            <a:rect l="l" t="t" r="r" b="b"/>
            <a:pathLst>
              <a:path w="2228047" h="624562">
                <a:moveTo>
                  <a:pt x="0" y="0"/>
                </a:moveTo>
                <a:lnTo>
                  <a:pt x="2228047" y="0"/>
                </a:lnTo>
                <a:lnTo>
                  <a:pt x="2228047" y="624562"/>
                </a:lnTo>
                <a:lnTo>
                  <a:pt x="0" y="6245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242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4458830" y="6817743"/>
            <a:ext cx="1990511" cy="719693"/>
          </a:xfrm>
          <a:custGeom>
            <a:avLst/>
            <a:gdLst/>
            <a:ahLst/>
            <a:cxnLst/>
            <a:rect l="l" t="t" r="r" b="b"/>
            <a:pathLst>
              <a:path w="1990511" h="719693">
                <a:moveTo>
                  <a:pt x="0" y="0"/>
                </a:moveTo>
                <a:lnTo>
                  <a:pt x="1990511" y="0"/>
                </a:lnTo>
                <a:lnTo>
                  <a:pt x="1990511" y="719692"/>
                </a:lnTo>
                <a:lnTo>
                  <a:pt x="0" y="7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827" t="-45277" r="-9742" b="-45411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4480619" y="3557734"/>
            <a:ext cx="1050141" cy="1056501"/>
          </a:xfrm>
          <a:custGeom>
            <a:avLst/>
            <a:gdLst/>
            <a:ahLst/>
            <a:cxnLst/>
            <a:rect l="l" t="t" r="r" b="b"/>
            <a:pathLst>
              <a:path w="1050141" h="1056501">
                <a:moveTo>
                  <a:pt x="0" y="0"/>
                </a:moveTo>
                <a:lnTo>
                  <a:pt x="1050141" y="0"/>
                </a:lnTo>
                <a:lnTo>
                  <a:pt x="1050141" y="1056502"/>
                </a:lnTo>
                <a:lnTo>
                  <a:pt x="0" y="10565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2467" r="-5571" b="-2467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6270633" y="3967387"/>
            <a:ext cx="1425851" cy="601245"/>
          </a:xfrm>
          <a:custGeom>
            <a:avLst/>
            <a:gdLst/>
            <a:ahLst/>
            <a:cxnLst/>
            <a:rect l="l" t="t" r="r" b="b"/>
            <a:pathLst>
              <a:path w="1425851" h="601245">
                <a:moveTo>
                  <a:pt x="0" y="0"/>
                </a:moveTo>
                <a:lnTo>
                  <a:pt x="1425851" y="0"/>
                </a:lnTo>
                <a:lnTo>
                  <a:pt x="1425851" y="601245"/>
                </a:lnTo>
                <a:lnTo>
                  <a:pt x="0" y="60124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70442" b="-66707"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539339" y="2336452"/>
            <a:ext cx="1947864" cy="663491"/>
          </a:xfrm>
          <a:custGeom>
            <a:avLst/>
            <a:gdLst/>
            <a:ahLst/>
            <a:cxnLst/>
            <a:rect l="l" t="t" r="r" b="b"/>
            <a:pathLst>
              <a:path w="1947864" h="663491">
                <a:moveTo>
                  <a:pt x="0" y="0"/>
                </a:moveTo>
                <a:lnTo>
                  <a:pt x="1947864" y="0"/>
                </a:lnTo>
                <a:lnTo>
                  <a:pt x="1947864" y="663491"/>
                </a:lnTo>
                <a:lnTo>
                  <a:pt x="0" y="6634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619940" y="2922842"/>
            <a:ext cx="2049230" cy="660906"/>
          </a:xfrm>
          <a:custGeom>
            <a:avLst/>
            <a:gdLst/>
            <a:ahLst/>
            <a:cxnLst/>
            <a:rect l="l" t="t" r="r" b="b"/>
            <a:pathLst>
              <a:path w="2049230" h="660906">
                <a:moveTo>
                  <a:pt x="0" y="0"/>
                </a:moveTo>
                <a:lnTo>
                  <a:pt x="2049229" y="0"/>
                </a:lnTo>
                <a:lnTo>
                  <a:pt x="2049229" y="660906"/>
                </a:lnTo>
                <a:lnTo>
                  <a:pt x="0" y="6609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38590" b="-35820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877264" y="2423879"/>
            <a:ext cx="997928" cy="997928"/>
          </a:xfrm>
          <a:custGeom>
            <a:avLst/>
            <a:gdLst/>
            <a:ahLst/>
            <a:cxnLst/>
            <a:rect l="l" t="t" r="r" b="b"/>
            <a:pathLst>
              <a:path w="997928" h="997928">
                <a:moveTo>
                  <a:pt x="0" y="0"/>
                </a:moveTo>
                <a:lnTo>
                  <a:pt x="997928" y="0"/>
                </a:lnTo>
                <a:lnTo>
                  <a:pt x="997928" y="997927"/>
                </a:lnTo>
                <a:lnTo>
                  <a:pt x="0" y="9979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6111975" y="8072892"/>
            <a:ext cx="181396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WEB</a:t>
            </a:r>
          </a:p>
        </p:txBody>
      </p:sp>
      <p:sp>
        <p:nvSpPr>
          <p:cNvPr id="33" name="Freeform 33"/>
          <p:cNvSpPr/>
          <p:nvPr/>
        </p:nvSpPr>
        <p:spPr>
          <a:xfrm>
            <a:off x="16630596" y="5530657"/>
            <a:ext cx="1382562" cy="1382562"/>
          </a:xfrm>
          <a:custGeom>
            <a:avLst/>
            <a:gdLst/>
            <a:ahLst/>
            <a:cxnLst/>
            <a:rect l="l" t="t" r="r" b="b"/>
            <a:pathLst>
              <a:path w="1382562" h="1382562">
                <a:moveTo>
                  <a:pt x="0" y="0"/>
                </a:moveTo>
                <a:lnTo>
                  <a:pt x="1382562" y="0"/>
                </a:lnTo>
                <a:lnTo>
                  <a:pt x="1382562" y="1382561"/>
                </a:lnTo>
                <a:lnTo>
                  <a:pt x="0" y="138256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4971357" y="1641127"/>
            <a:ext cx="2281237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Backend Layer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069899" y="4840062"/>
            <a:ext cx="209997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b="1" u="sng">
                <a:solidFill>
                  <a:srgbClr val="000000"/>
                </a:solidFill>
                <a:latin typeface="Trade Gothic Condensed Bold"/>
                <a:ea typeface="Trade Gothic Condensed Bold"/>
                <a:cs typeface="Trade Gothic Condensed Bold"/>
                <a:sym typeface="Trade Gothic Condensed Bold"/>
              </a:rPr>
              <a:t>AI LAYER</a:t>
            </a:r>
          </a:p>
        </p:txBody>
      </p:sp>
      <p:sp>
        <p:nvSpPr>
          <p:cNvPr id="36" name="Freeform 36"/>
          <p:cNvSpPr/>
          <p:nvPr/>
        </p:nvSpPr>
        <p:spPr>
          <a:xfrm>
            <a:off x="17641495" y="9536653"/>
            <a:ext cx="552017" cy="677321"/>
          </a:xfrm>
          <a:custGeom>
            <a:avLst/>
            <a:gdLst/>
            <a:ahLst/>
            <a:cxnLst/>
            <a:rect l="l" t="t" r="r" b="b"/>
            <a:pathLst>
              <a:path w="552017" h="677321">
                <a:moveTo>
                  <a:pt x="0" y="0"/>
                </a:moveTo>
                <a:lnTo>
                  <a:pt x="552017" y="0"/>
                </a:lnTo>
                <a:lnTo>
                  <a:pt x="552017" y="677322"/>
                </a:lnTo>
                <a:lnTo>
                  <a:pt x="0" y="6773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17641495" y="9601470"/>
            <a:ext cx="315820" cy="547688"/>
            <a:chOff x="0" y="0"/>
            <a:chExt cx="421093" cy="73025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21093" cy="730250"/>
            </a:xfrm>
            <a:custGeom>
              <a:avLst/>
              <a:gdLst/>
              <a:ahLst/>
              <a:cxnLst/>
              <a:rect l="l" t="t" r="r" b="b"/>
              <a:pathLst>
                <a:path w="421093" h="730250">
                  <a:moveTo>
                    <a:pt x="0" y="0"/>
                  </a:moveTo>
                  <a:lnTo>
                    <a:pt x="421093" y="0"/>
                  </a:lnTo>
                  <a:lnTo>
                    <a:pt x="421093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r="-1251150" b="-101813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421093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4</a:t>
              </a:r>
            </a:p>
          </p:txBody>
        </p:sp>
      </p:grpSp>
      <p:grpSp>
        <p:nvGrpSpPr>
          <p:cNvPr id="40" name="Group 10">
            <a:extLst>
              <a:ext uri="{FF2B5EF4-FFF2-40B4-BE49-F238E27FC236}">
                <a16:creationId xmlns:a16="http://schemas.microsoft.com/office/drawing/2014/main" id="{D4E57AA6-431F-51BD-AE9E-A6AA7FA5105B}"/>
              </a:ext>
            </a:extLst>
          </p:cNvPr>
          <p:cNvGrpSpPr/>
          <p:nvPr/>
        </p:nvGrpSpPr>
        <p:grpSpPr>
          <a:xfrm>
            <a:off x="13872551" y="7980669"/>
            <a:ext cx="2067934" cy="1579263"/>
            <a:chOff x="0" y="0"/>
            <a:chExt cx="281951" cy="215299"/>
          </a:xfrm>
        </p:grpSpPr>
        <p:sp>
          <p:nvSpPr>
            <p:cNvPr id="41" name="Freeform 11">
              <a:extLst>
                <a:ext uri="{FF2B5EF4-FFF2-40B4-BE49-F238E27FC236}">
                  <a16:creationId xmlns:a16="http://schemas.microsoft.com/office/drawing/2014/main" id="{2A0C9F75-5545-CD65-2B04-7D6B9492BE78}"/>
                </a:ext>
              </a:extLst>
            </p:cNvPr>
            <p:cNvSpPr/>
            <p:nvPr/>
          </p:nvSpPr>
          <p:spPr>
            <a:xfrm>
              <a:off x="0" y="0"/>
              <a:ext cx="281951" cy="215299"/>
            </a:xfrm>
            <a:custGeom>
              <a:avLst/>
              <a:gdLst/>
              <a:ahLst/>
              <a:cxnLst/>
              <a:rect l="l" t="t" r="r" b="b"/>
              <a:pathLst>
                <a:path w="281951" h="215299">
                  <a:moveTo>
                    <a:pt x="281951" y="78620"/>
                  </a:moveTo>
                  <a:lnTo>
                    <a:pt x="281951" y="136679"/>
                  </a:lnTo>
                  <a:cubicBezTo>
                    <a:pt x="281951" y="157530"/>
                    <a:pt x="273668" y="177528"/>
                    <a:pt x="258924" y="192272"/>
                  </a:cubicBezTo>
                  <a:cubicBezTo>
                    <a:pt x="244180" y="207016"/>
                    <a:pt x="224182" y="215299"/>
                    <a:pt x="203331" y="215299"/>
                  </a:cubicBezTo>
                  <a:lnTo>
                    <a:pt x="78620" y="215299"/>
                  </a:lnTo>
                  <a:cubicBezTo>
                    <a:pt x="57768" y="215299"/>
                    <a:pt x="37771" y="207016"/>
                    <a:pt x="23027" y="192272"/>
                  </a:cubicBezTo>
                  <a:cubicBezTo>
                    <a:pt x="8283" y="177528"/>
                    <a:pt x="0" y="157530"/>
                    <a:pt x="0" y="136679"/>
                  </a:cubicBezTo>
                  <a:lnTo>
                    <a:pt x="0" y="78620"/>
                  </a:lnTo>
                  <a:cubicBezTo>
                    <a:pt x="0" y="57768"/>
                    <a:pt x="8283" y="37771"/>
                    <a:pt x="23027" y="23027"/>
                  </a:cubicBezTo>
                  <a:cubicBezTo>
                    <a:pt x="37771" y="8283"/>
                    <a:pt x="57768" y="0"/>
                    <a:pt x="78620" y="0"/>
                  </a:cubicBezTo>
                  <a:lnTo>
                    <a:pt x="203331" y="0"/>
                  </a:lnTo>
                  <a:cubicBezTo>
                    <a:pt x="224182" y="0"/>
                    <a:pt x="244180" y="8283"/>
                    <a:pt x="258924" y="23027"/>
                  </a:cubicBezTo>
                  <a:cubicBezTo>
                    <a:pt x="273668" y="37771"/>
                    <a:pt x="281951" y="57768"/>
                    <a:pt x="281951" y="78620"/>
                  </a:cubicBezTo>
                  <a:close/>
                </a:path>
              </a:pathLst>
            </a:custGeom>
            <a:ln w="19050" cap="rnd">
              <a:solidFill>
                <a:srgbClr val="041F60"/>
              </a:solidFill>
              <a:prstDash val="solid"/>
              <a:round/>
            </a:ln>
          </p:spPr>
        </p:sp>
        <p:sp>
          <p:nvSpPr>
            <p:cNvPr id="42" name="TextBox 12">
              <a:extLst>
                <a:ext uri="{FF2B5EF4-FFF2-40B4-BE49-F238E27FC236}">
                  <a16:creationId xmlns:a16="http://schemas.microsoft.com/office/drawing/2014/main" id="{DA4C3FD4-CDA7-BC66-B987-229CB1C69357}"/>
                </a:ext>
              </a:extLst>
            </p:cNvPr>
            <p:cNvSpPr txBox="1"/>
            <p:nvPr/>
          </p:nvSpPr>
          <p:spPr>
            <a:xfrm>
              <a:off x="0" y="-47625"/>
              <a:ext cx="281951" cy="2629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endParaRPr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3483" y="1631628"/>
            <a:ext cx="7841905" cy="5657850"/>
            <a:chOff x="0" y="0"/>
            <a:chExt cx="2065358" cy="14901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5358" cy="1490133"/>
            </a:xfrm>
            <a:custGeom>
              <a:avLst/>
              <a:gdLst/>
              <a:ahLst/>
              <a:cxnLst/>
              <a:rect l="l" t="t" r="r" b="b"/>
              <a:pathLst>
                <a:path w="2065358" h="1490133">
                  <a:moveTo>
                    <a:pt x="50350" y="0"/>
                  </a:moveTo>
                  <a:lnTo>
                    <a:pt x="2015008" y="0"/>
                  </a:lnTo>
                  <a:cubicBezTo>
                    <a:pt x="2042815" y="0"/>
                    <a:pt x="2065358" y="22542"/>
                    <a:pt x="2065358" y="50350"/>
                  </a:cubicBezTo>
                  <a:lnTo>
                    <a:pt x="2065358" y="1439784"/>
                  </a:lnTo>
                  <a:cubicBezTo>
                    <a:pt x="2065358" y="1467591"/>
                    <a:pt x="2042815" y="1490133"/>
                    <a:pt x="2015008" y="1490133"/>
                  </a:cubicBezTo>
                  <a:lnTo>
                    <a:pt x="50350" y="1490133"/>
                  </a:lnTo>
                  <a:cubicBezTo>
                    <a:pt x="22542" y="1490133"/>
                    <a:pt x="0" y="1467591"/>
                    <a:pt x="0" y="1439784"/>
                  </a:cubicBezTo>
                  <a:lnTo>
                    <a:pt x="0" y="50350"/>
                  </a:lnTo>
                  <a:cubicBezTo>
                    <a:pt x="0" y="22542"/>
                    <a:pt x="22542" y="0"/>
                    <a:pt x="503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065358" cy="1499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581995" y="4713563"/>
            <a:ext cx="1897434" cy="455384"/>
          </a:xfrm>
          <a:custGeom>
            <a:avLst/>
            <a:gdLst/>
            <a:ahLst/>
            <a:cxnLst/>
            <a:rect l="l" t="t" r="r" b="b"/>
            <a:pathLst>
              <a:path w="1897434" h="455384">
                <a:moveTo>
                  <a:pt x="0" y="0"/>
                </a:moveTo>
                <a:lnTo>
                  <a:pt x="1897434" y="0"/>
                </a:lnTo>
                <a:lnTo>
                  <a:pt x="1897434" y="455385"/>
                </a:lnTo>
                <a:lnTo>
                  <a:pt x="0" y="455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913166" y="5267280"/>
            <a:ext cx="7222540" cy="1899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465" lvl="1" indent="-194232" algn="just">
              <a:lnSpc>
                <a:spcPts val="2159"/>
              </a:lnSpc>
              <a:buFont typeface="Arial"/>
              <a:buChar char="•"/>
            </a:pPr>
            <a:r>
              <a:rPr lang="en-US" sz="1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100% Sovereign: 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Self-hosted in private clouds and air-gapped enclaves with NIST Zero Trust alignment. </a:t>
            </a:r>
          </a:p>
          <a:p>
            <a:pPr marL="388465" lvl="1" indent="-194232" algn="just">
              <a:lnSpc>
                <a:spcPts val="2159"/>
              </a:lnSpc>
              <a:buFont typeface="Arial"/>
              <a:buChar char="•"/>
            </a:pPr>
            <a:r>
              <a:rPr lang="en-US" sz="1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Zero-Friction Hold: 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Reversible pause states block risks without developer deadlocks. </a:t>
            </a:r>
          </a:p>
          <a:p>
            <a:pPr marL="388465" lvl="1" indent="-194232" algn="just">
              <a:lnSpc>
                <a:spcPts val="2159"/>
              </a:lnSpc>
              <a:buFont typeface="Arial"/>
              <a:buChar char="•"/>
            </a:pPr>
            <a:r>
              <a:rPr lang="en-US" sz="1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ROI Impact: </a:t>
            </a:r>
            <a:r>
              <a:rPr lang="en-US" sz="1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Turns security findings into business value, capturing up to $1.93M in breach savings.</a:t>
            </a:r>
          </a:p>
          <a:p>
            <a:pPr algn="just">
              <a:lnSpc>
                <a:spcPts val="2159"/>
              </a:lnSpc>
            </a:pPr>
            <a:endParaRPr lang="en-US" sz="17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914400" y="-310894"/>
            <a:ext cx="16459200" cy="1714500"/>
            <a:chOff x="0" y="0"/>
            <a:chExt cx="21945600" cy="228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79"/>
                </a:lnSpc>
              </a:pPr>
              <a:r>
                <a:rPr lang="en-US" sz="5399" b="1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&amp; VIABILITY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85550" y="799000"/>
            <a:ext cx="3651766" cy="915291"/>
            <a:chOff x="0" y="0"/>
            <a:chExt cx="1163079" cy="2915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63079" cy="291518"/>
            </a:xfrm>
            <a:custGeom>
              <a:avLst/>
              <a:gdLst/>
              <a:ahLst/>
              <a:cxnLst/>
              <a:rect l="l" t="t" r="r" b="b"/>
              <a:pathLst>
                <a:path w="1163079" h="291518">
                  <a:moveTo>
                    <a:pt x="41407" y="0"/>
                  </a:moveTo>
                  <a:lnTo>
                    <a:pt x="1121672" y="0"/>
                  </a:lnTo>
                  <a:cubicBezTo>
                    <a:pt x="1144541" y="0"/>
                    <a:pt x="1163079" y="18539"/>
                    <a:pt x="1163079" y="41407"/>
                  </a:cubicBezTo>
                  <a:lnTo>
                    <a:pt x="1163079" y="250111"/>
                  </a:lnTo>
                  <a:cubicBezTo>
                    <a:pt x="1163079" y="272980"/>
                    <a:pt x="1144541" y="291518"/>
                    <a:pt x="1121672" y="291518"/>
                  </a:cubicBezTo>
                  <a:lnTo>
                    <a:pt x="41407" y="291518"/>
                  </a:lnTo>
                  <a:cubicBezTo>
                    <a:pt x="18539" y="291518"/>
                    <a:pt x="0" y="272980"/>
                    <a:pt x="0" y="250111"/>
                  </a:cubicBezTo>
                  <a:lnTo>
                    <a:pt x="0" y="41407"/>
                  </a:lnTo>
                  <a:cubicBezTo>
                    <a:pt x="0" y="18539"/>
                    <a:pt x="18539" y="0"/>
                    <a:pt x="41407" y="0"/>
                  </a:cubicBezTo>
                  <a:close/>
                </a:path>
              </a:pathLst>
            </a:custGeom>
            <a:solidFill>
              <a:srgbClr val="0070C0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1163079" cy="310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9"/>
                </a:lnSpc>
              </a:pPr>
              <a:r>
                <a:rPr lang="en-US" sz="25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Benefits of the solution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237475" y="3519839"/>
            <a:ext cx="344883" cy="344883"/>
          </a:xfrm>
          <a:custGeom>
            <a:avLst/>
            <a:gdLst/>
            <a:ahLst/>
            <a:cxnLst/>
            <a:rect l="l" t="t" r="r" b="b"/>
            <a:pathLst>
              <a:path w="344883" h="344883">
                <a:moveTo>
                  <a:pt x="0" y="0"/>
                </a:moveTo>
                <a:lnTo>
                  <a:pt x="344883" y="0"/>
                </a:lnTo>
                <a:lnTo>
                  <a:pt x="344883" y="344883"/>
                </a:lnTo>
                <a:lnTo>
                  <a:pt x="0" y="3448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1950" y="2026421"/>
            <a:ext cx="595932" cy="354580"/>
          </a:xfrm>
          <a:custGeom>
            <a:avLst/>
            <a:gdLst/>
            <a:ahLst/>
            <a:cxnLst/>
            <a:rect l="l" t="t" r="r" b="b"/>
            <a:pathLst>
              <a:path w="595932" h="354580">
                <a:moveTo>
                  <a:pt x="0" y="0"/>
                </a:moveTo>
                <a:lnTo>
                  <a:pt x="595933" y="0"/>
                </a:lnTo>
                <a:lnTo>
                  <a:pt x="595933" y="354579"/>
                </a:lnTo>
                <a:lnTo>
                  <a:pt x="0" y="354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85550" y="4979859"/>
            <a:ext cx="443289" cy="403393"/>
          </a:xfrm>
          <a:custGeom>
            <a:avLst/>
            <a:gdLst/>
            <a:ahLst/>
            <a:cxnLst/>
            <a:rect l="l" t="t" r="r" b="b"/>
            <a:pathLst>
              <a:path w="443289" h="403393">
                <a:moveTo>
                  <a:pt x="0" y="0"/>
                </a:moveTo>
                <a:lnTo>
                  <a:pt x="443288" y="0"/>
                </a:lnTo>
                <a:lnTo>
                  <a:pt x="443288" y="403393"/>
                </a:lnTo>
                <a:lnTo>
                  <a:pt x="0" y="4033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4075" y="6385444"/>
            <a:ext cx="425176" cy="359273"/>
          </a:xfrm>
          <a:custGeom>
            <a:avLst/>
            <a:gdLst/>
            <a:ahLst/>
            <a:cxnLst/>
            <a:rect l="l" t="t" r="r" b="b"/>
            <a:pathLst>
              <a:path w="425176" h="359273">
                <a:moveTo>
                  <a:pt x="0" y="0"/>
                </a:moveTo>
                <a:lnTo>
                  <a:pt x="425175" y="0"/>
                </a:lnTo>
                <a:lnTo>
                  <a:pt x="425175" y="359273"/>
                </a:lnTo>
                <a:lnTo>
                  <a:pt x="0" y="3592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120929" y="1996193"/>
            <a:ext cx="408491" cy="412617"/>
          </a:xfrm>
          <a:custGeom>
            <a:avLst/>
            <a:gdLst/>
            <a:ahLst/>
            <a:cxnLst/>
            <a:rect l="l" t="t" r="r" b="b"/>
            <a:pathLst>
              <a:path w="408491" h="412617">
                <a:moveTo>
                  <a:pt x="0" y="0"/>
                </a:moveTo>
                <a:lnTo>
                  <a:pt x="408491" y="0"/>
                </a:lnTo>
                <a:lnTo>
                  <a:pt x="408491" y="412618"/>
                </a:lnTo>
                <a:lnTo>
                  <a:pt x="0" y="412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48391" y="7746909"/>
            <a:ext cx="7424009" cy="2549857"/>
          </a:xfrm>
          <a:custGeom>
            <a:avLst/>
            <a:gdLst/>
            <a:ahLst/>
            <a:cxnLst/>
            <a:rect l="l" t="t" r="r" b="b"/>
            <a:pathLst>
              <a:path w="7424009" h="3340804">
                <a:moveTo>
                  <a:pt x="0" y="0"/>
                </a:moveTo>
                <a:lnTo>
                  <a:pt x="7424009" y="0"/>
                </a:lnTo>
                <a:lnTo>
                  <a:pt x="7424009" y="3340804"/>
                </a:lnTo>
                <a:lnTo>
                  <a:pt x="0" y="3340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954759" y="2599229"/>
            <a:ext cx="7222540" cy="201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26" lvl="1" indent="-179063" algn="just">
              <a:lnSpc>
                <a:spcPts val="2023"/>
              </a:lnSpc>
              <a:buFont typeface="Arial"/>
              <a:buChar char="•"/>
            </a:pPr>
            <a:r>
              <a:rPr lang="en-US" sz="165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Proven Engines: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Next.js &amp; Python prototype with active YARA-X, Scapy, and TShark scanners. </a:t>
            </a:r>
          </a:p>
          <a:p>
            <a:pPr marL="358126" lvl="1" indent="-179063" algn="just">
              <a:lnSpc>
                <a:spcPts val="2023"/>
              </a:lnSpc>
              <a:buFont typeface="Arial"/>
              <a:buChar char="•"/>
            </a:pPr>
            <a:r>
              <a:rPr lang="en-US" sz="165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Modular SHA-256 Packages: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Deploy hot-swappable security extensions without core downtime. </a:t>
            </a:r>
          </a:p>
          <a:p>
            <a:pPr marL="358126" lvl="1" indent="-179063" algn="just">
              <a:lnSpc>
                <a:spcPts val="2023"/>
              </a:lnSpc>
              <a:buFont typeface="Arial"/>
              <a:buChar char="•"/>
            </a:pPr>
            <a:r>
              <a:rPr lang="en-US" sz="165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Low-Cost Isolation: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Sandboxed execution on existing Postgres infra with zero client overhead.</a:t>
            </a:r>
          </a:p>
          <a:p>
            <a:pPr algn="just">
              <a:lnSpc>
                <a:spcPts val="2023"/>
              </a:lnSpc>
            </a:pPr>
            <a:endParaRPr lang="en-US" sz="165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2023"/>
              </a:lnSpc>
            </a:pPr>
            <a:endParaRPr lang="en-US" sz="1658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0215018" y="4737399"/>
            <a:ext cx="366977" cy="396732"/>
          </a:xfrm>
          <a:custGeom>
            <a:avLst/>
            <a:gdLst/>
            <a:ahLst/>
            <a:cxnLst/>
            <a:rect l="l" t="t" r="r" b="b"/>
            <a:pathLst>
              <a:path w="366977" h="396732">
                <a:moveTo>
                  <a:pt x="0" y="0"/>
                </a:moveTo>
                <a:lnTo>
                  <a:pt x="366977" y="0"/>
                </a:lnTo>
                <a:lnTo>
                  <a:pt x="366977" y="396732"/>
                </a:lnTo>
                <a:lnTo>
                  <a:pt x="0" y="396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709141" y="4277208"/>
            <a:ext cx="7705508" cy="192638"/>
          </a:xfrm>
          <a:custGeom>
            <a:avLst/>
            <a:gdLst/>
            <a:ahLst/>
            <a:cxnLst/>
            <a:rect l="l" t="t" r="r" b="b"/>
            <a:pathLst>
              <a:path w="7705508" h="192638">
                <a:moveTo>
                  <a:pt x="0" y="0"/>
                </a:moveTo>
                <a:lnTo>
                  <a:pt x="7705508" y="0"/>
                </a:lnTo>
                <a:lnTo>
                  <a:pt x="7705508" y="192638"/>
                </a:lnTo>
                <a:lnTo>
                  <a:pt x="0" y="192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7816303" y="9633767"/>
            <a:ext cx="228600" cy="547688"/>
            <a:chOff x="0" y="0"/>
            <a:chExt cx="304800" cy="7302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04800" cy="730250"/>
            </a:xfrm>
            <a:custGeom>
              <a:avLst/>
              <a:gdLst/>
              <a:ahLst/>
              <a:cxnLst/>
              <a:rect l="l" t="t" r="r" b="b"/>
              <a:pathLst>
                <a:path w="304800" h="730250">
                  <a:moveTo>
                    <a:pt x="0" y="0"/>
                  </a:moveTo>
                  <a:lnTo>
                    <a:pt x="304800" y="0"/>
                  </a:lnTo>
                  <a:lnTo>
                    <a:pt x="3048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r="-1766666" b="-10181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048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000000"/>
                  </a:solidFill>
                  <a:latin typeface="Trade Gothic Condensed Bold"/>
                  <a:ea typeface="Trade Gothic Condensed Bold"/>
                  <a:cs typeface="Trade Gothic Condensed Bold"/>
                  <a:sym typeface="Trade Gothic Condensed Bold"/>
                </a:rPr>
                <a:t>5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17735983" y="9568950"/>
            <a:ext cx="552017" cy="677321"/>
          </a:xfrm>
          <a:custGeom>
            <a:avLst/>
            <a:gdLst/>
            <a:ahLst/>
            <a:cxnLst/>
            <a:rect l="l" t="t" r="r" b="b"/>
            <a:pathLst>
              <a:path w="552017" h="677321">
                <a:moveTo>
                  <a:pt x="0" y="0"/>
                </a:moveTo>
                <a:lnTo>
                  <a:pt x="552017" y="0"/>
                </a:lnTo>
                <a:lnTo>
                  <a:pt x="552017" y="677322"/>
                </a:lnTo>
                <a:lnTo>
                  <a:pt x="0" y="6773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665835" y="8249855"/>
            <a:ext cx="7019465" cy="354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1"/>
              </a:lnSpc>
              <a:spcBef>
                <a:spcPct val="0"/>
              </a:spcBef>
            </a:pPr>
            <a:r>
              <a:rPr lang="en-US" sz="2450" b="1" u="sng" dirty="0">
                <a:solidFill>
                  <a:srgbClr val="0070C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Potential Impact on the target Ecosystem: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69250" y="8274538"/>
            <a:ext cx="275289" cy="275289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190500" y="180975"/>
              <a:ext cx="4318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9410588" y="7358833"/>
            <a:ext cx="7424009" cy="2887438"/>
          </a:xfrm>
          <a:custGeom>
            <a:avLst/>
            <a:gdLst/>
            <a:ahLst/>
            <a:cxnLst/>
            <a:rect l="l" t="t" r="r" b="b"/>
            <a:pathLst>
              <a:path w="7424009" h="3340804">
                <a:moveTo>
                  <a:pt x="0" y="0"/>
                </a:moveTo>
                <a:lnTo>
                  <a:pt x="7424009" y="0"/>
                </a:lnTo>
                <a:lnTo>
                  <a:pt x="7424009" y="3340804"/>
                </a:lnTo>
                <a:lnTo>
                  <a:pt x="0" y="3340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9550580" y="7505700"/>
            <a:ext cx="7019465" cy="354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1"/>
              </a:lnSpc>
              <a:spcBef>
                <a:spcPct val="0"/>
              </a:spcBef>
            </a:pPr>
            <a:r>
              <a:rPr lang="en-US" sz="2450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Enterprise Readiness &amp; Target Adoption: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703111" y="7543351"/>
            <a:ext cx="275289" cy="275289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190500" y="180975"/>
              <a:ext cx="431800" cy="441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10529420" y="1959082"/>
            <a:ext cx="2324346" cy="557843"/>
          </a:xfrm>
          <a:custGeom>
            <a:avLst/>
            <a:gdLst/>
            <a:ahLst/>
            <a:cxnLst/>
            <a:rect l="l" t="t" r="r" b="b"/>
            <a:pathLst>
              <a:path w="2324346" h="557843">
                <a:moveTo>
                  <a:pt x="0" y="0"/>
                </a:moveTo>
                <a:lnTo>
                  <a:pt x="2324346" y="0"/>
                </a:lnTo>
                <a:lnTo>
                  <a:pt x="2324346" y="557843"/>
                </a:lnTo>
                <a:lnTo>
                  <a:pt x="0" y="5578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0538945" y="4423016"/>
            <a:ext cx="1819465" cy="882440"/>
          </a:xfrm>
          <a:custGeom>
            <a:avLst/>
            <a:gdLst/>
            <a:ahLst/>
            <a:cxnLst/>
            <a:rect l="l" t="t" r="r" b="b"/>
            <a:pathLst>
              <a:path w="1819465" h="882440">
                <a:moveTo>
                  <a:pt x="0" y="0"/>
                </a:moveTo>
                <a:lnTo>
                  <a:pt x="1819465" y="0"/>
                </a:lnTo>
                <a:lnTo>
                  <a:pt x="1819465" y="882440"/>
                </a:lnTo>
                <a:lnTo>
                  <a:pt x="0" y="8824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717831" y="2001301"/>
            <a:ext cx="7363785" cy="161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54"/>
              </a:lnSpc>
            </a:pPr>
            <a:r>
              <a:rPr lang="en-US" sz="2134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Economic</a:t>
            </a:r>
            <a:r>
              <a:rPr lang="en-US" sz="21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marL="396067" lvl="1" indent="-198033" algn="just">
              <a:lnSpc>
                <a:spcPts val="2109"/>
              </a:lnSpc>
              <a:buFont typeface="Arial"/>
              <a:buChar char="•"/>
            </a:pPr>
            <a:r>
              <a:rPr lang="en-US" sz="1834" b="1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Defensible $VaR:</a:t>
            </a: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Converts raw findings into board-ready Dollar-at-Risk via Open-FAIR.</a:t>
            </a:r>
          </a:p>
          <a:p>
            <a:pPr marL="396067" lvl="1" indent="-198033" algn="just">
              <a:lnSpc>
                <a:spcPts val="2109"/>
              </a:lnSpc>
              <a:buFont typeface="Arial"/>
              <a:buChar char="•"/>
            </a:pPr>
            <a:r>
              <a:rPr lang="en-US" sz="1834" b="1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Optimized Spend:</a:t>
            </a: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Algorithmic Knapsack solver maximizes risk reduction per rupee.</a:t>
            </a:r>
          </a:p>
          <a:p>
            <a:pPr algn="l">
              <a:lnSpc>
                <a:spcPts val="1903"/>
              </a:lnSpc>
            </a:pPr>
            <a:endParaRPr lang="en-US" sz="183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74004" y="3512373"/>
            <a:ext cx="7228953" cy="161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54"/>
              </a:lnSpc>
            </a:pPr>
            <a:r>
              <a:rPr lang="en-US" sz="2134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Technological</a:t>
            </a:r>
            <a:r>
              <a:rPr lang="en-US" sz="21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marL="396067" lvl="1" indent="-198033" algn="just">
              <a:lnSpc>
                <a:spcPts val="2109"/>
              </a:lnSpc>
              <a:buFont typeface="Arial"/>
              <a:buChar char="•"/>
            </a:pPr>
            <a:r>
              <a:rPr lang="en-US" sz="1834" b="1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Pre-Merge Gating:</a:t>
            </a: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Blocks backdoored weights, poisoned deps, and secrets inline.</a:t>
            </a:r>
          </a:p>
          <a:p>
            <a:pPr marL="396067" lvl="1" indent="-198033" algn="just">
              <a:lnSpc>
                <a:spcPts val="2109"/>
              </a:lnSpc>
              <a:buFont typeface="Arial"/>
              <a:buChar char="•"/>
            </a:pPr>
            <a:r>
              <a:rPr lang="en-US" sz="1834" b="1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Zero Pipeline Stall</a:t>
            </a: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1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Reversible Hold state eliminates developer friction.</a:t>
            </a:r>
            <a:r>
              <a:rPr lang="en-US" sz="1834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1903"/>
              </a:lnSpc>
            </a:pPr>
            <a:endParaRPr lang="en-US" sz="1834" u="none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707883" y="4969522"/>
            <a:ext cx="7290288" cy="161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54"/>
              </a:lnSpc>
            </a:pPr>
            <a:r>
              <a:rPr lang="en-US" sz="2134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Efficiency</a:t>
            </a:r>
            <a:r>
              <a:rPr lang="en-US" sz="21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marL="396067" lvl="1" indent="-198033" algn="just">
              <a:lnSpc>
                <a:spcPts val="2109"/>
              </a:lnSpc>
              <a:buFont typeface="Arial"/>
              <a:buChar char="•"/>
            </a:pPr>
            <a:r>
              <a:rPr lang="en-US" sz="1834" b="1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80%+ Noise Slashed:</a:t>
            </a: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Unifies alert storms into single canonical envelopes</a:t>
            </a: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  <a:r>
              <a:rPr lang="en-US" sz="1834" b="1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marL="396067" lvl="1" indent="-198033" algn="just">
              <a:lnSpc>
                <a:spcPts val="2109"/>
              </a:lnSpc>
              <a:buFont typeface="Arial"/>
              <a:buChar char="•"/>
            </a:pPr>
            <a:r>
              <a:rPr lang="en-US" sz="1834" b="1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Verified Closure</a:t>
            </a: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1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Requires live telemetry proof before resolving tickets.</a:t>
            </a:r>
          </a:p>
          <a:p>
            <a:pPr algn="l">
              <a:lnSpc>
                <a:spcPts val="1903"/>
              </a:lnSpc>
            </a:pPr>
            <a:endParaRPr lang="en-US" sz="183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717831" y="6414019"/>
            <a:ext cx="7175564" cy="1612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54"/>
              </a:lnSpc>
            </a:pPr>
            <a:r>
              <a:rPr lang="en-US" sz="2134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Compliance</a:t>
            </a:r>
            <a:r>
              <a:rPr lang="en-US" sz="21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  <a:p>
            <a:pPr marL="396067" lvl="1" indent="-198033" algn="just">
              <a:lnSpc>
                <a:spcPts val="2109"/>
              </a:lnSpc>
              <a:buFont typeface="Arial"/>
              <a:buChar char="•"/>
            </a:pPr>
            <a:r>
              <a:rPr lang="en-US" sz="1834" b="1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100% Air-Gapped:</a:t>
            </a: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Zero code, weight, or prompt leaks to external clouds.</a:t>
            </a:r>
            <a:r>
              <a:rPr lang="en-US" sz="1834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marL="396067" lvl="1" indent="-198033" algn="just">
              <a:lnSpc>
                <a:spcPts val="2109"/>
              </a:lnSpc>
              <a:buFont typeface="Arial"/>
              <a:buChar char="•"/>
            </a:pPr>
            <a:r>
              <a:rPr lang="en-US" sz="1834" b="1" u="non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Native Compliance:</a:t>
            </a: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183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Built-in alignment with NIST CSF 2.0, Zero Trust, SEBI, and DPDP.</a:t>
            </a:r>
          </a:p>
          <a:p>
            <a:pPr algn="l">
              <a:lnSpc>
                <a:spcPts val="1903"/>
              </a:lnSpc>
            </a:pPr>
            <a:endParaRPr lang="en-US" sz="183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0293709" y="1972404"/>
            <a:ext cx="2828883" cy="40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6"/>
              </a:lnSpc>
              <a:spcBef>
                <a:spcPct val="0"/>
              </a:spcBef>
            </a:pPr>
            <a:r>
              <a:rPr lang="en-US" sz="2862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Feasibility: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67173" y="8610600"/>
            <a:ext cx="7503146" cy="171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279"/>
              </a:lnSpc>
              <a:buFont typeface="Arial"/>
              <a:buChar char="•"/>
            </a:pPr>
            <a:r>
              <a:rPr lang="en-US" sz="18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0% Pipeline Deadlock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Reversible non-disruptive hold states. </a:t>
            </a:r>
          </a:p>
          <a:p>
            <a:pPr marL="410209" lvl="1" indent="-205105" algn="l">
              <a:lnSpc>
                <a:spcPts val="2279"/>
              </a:lnSpc>
              <a:buFont typeface="Arial"/>
              <a:buChar char="•"/>
            </a:pPr>
            <a:r>
              <a:rPr lang="en-US" sz="18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100% Sovereign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Zero cloud leaks or external API reliance. </a:t>
            </a:r>
          </a:p>
          <a:p>
            <a:pPr marL="410209" lvl="1" indent="-205105" algn="l">
              <a:lnSpc>
                <a:spcPts val="2279"/>
              </a:lnSpc>
              <a:buFont typeface="Arial"/>
              <a:buChar char="•"/>
            </a:pPr>
            <a:r>
              <a:rPr lang="en-US" sz="18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100K+ Risk Sim/Sec</a:t>
            </a:r>
            <a:r>
              <a:rPr lang="en-US" sz="18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High-speed vectorized Monte Carlo compute.</a:t>
            </a:r>
          </a:p>
          <a:p>
            <a:pPr algn="l">
              <a:lnSpc>
                <a:spcPts val="2279"/>
              </a:lnSpc>
            </a:pPr>
            <a:endParaRPr lang="en-US" sz="18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0581995" y="4725534"/>
            <a:ext cx="1816952" cy="40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06"/>
              </a:lnSpc>
              <a:spcBef>
                <a:spcPct val="0"/>
              </a:spcBef>
            </a:pPr>
            <a:r>
              <a:rPr lang="en-US" sz="2862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Viability: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01033" y="7898463"/>
            <a:ext cx="7503146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&lt; 15-Min Setup: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Drop-in Git hook &amp; Docker sidecar; zero infra overhaul.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&lt; 2.5% Overhead: 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Async sniffing &amp; YARA-X scans with zero pipeline lag.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Plug-and-Play GRC: 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Instant SEBI CSCRF &amp; DPDP audit-pack generation.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Native CI/CD: </a:t>
            </a:r>
            <a:r>
              <a:rPr lang="en-US" sz="1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Seamless GitHub Actions, GitLab CI, &amp; K8s integration.</a:t>
            </a:r>
          </a:p>
          <a:p>
            <a:pPr algn="l">
              <a:lnSpc>
                <a:spcPts val="2160"/>
              </a:lnSpc>
            </a:pPr>
            <a:endParaRPr lang="en-US" sz="18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-279661"/>
            <a:ext cx="16459200" cy="1714500"/>
            <a:chOff x="0" y="0"/>
            <a:chExt cx="21945600" cy="228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3650304" y="9516099"/>
            <a:ext cx="4543208" cy="677321"/>
            <a:chOff x="0" y="0"/>
            <a:chExt cx="6057611" cy="903095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134741"/>
              <a:ext cx="5689600" cy="730250"/>
              <a:chOff x="0" y="0"/>
              <a:chExt cx="5689600" cy="730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6896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5689600" h="730250">
                    <a:moveTo>
                      <a:pt x="0" y="0"/>
                    </a:moveTo>
                    <a:lnTo>
                      <a:pt x="5689600" y="0"/>
                    </a:lnTo>
                    <a:lnTo>
                      <a:pt x="5689600" y="730250"/>
                    </a:lnTo>
                    <a:lnTo>
                      <a:pt x="0" y="73025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101813" b="-101813"/>
                </a:stretch>
              </a:blip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5689600" cy="7683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r">
                  <a:lnSpc>
                    <a:spcPts val="2160"/>
                  </a:lnSpc>
                </a:pPr>
                <a:r>
                  <a:rPr lang="en-US" sz="1800" b="1">
                    <a:solidFill>
                      <a:srgbClr val="000000"/>
                    </a:solidFill>
                    <a:latin typeface="Trade Gothic Condensed Bold"/>
                    <a:ea typeface="Trade Gothic Condensed Bold"/>
                    <a:cs typeface="Trade Gothic Condensed Bold"/>
                    <a:sym typeface="Trade Gothic Condensed Bold"/>
                  </a:rPr>
                  <a:t>6</a:t>
                </a:r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5321589" y="0"/>
              <a:ext cx="736023" cy="903095"/>
            </a:xfrm>
            <a:custGeom>
              <a:avLst/>
              <a:gdLst/>
              <a:ahLst/>
              <a:cxnLst/>
              <a:rect l="l" t="t" r="r" b="b"/>
              <a:pathLst>
                <a:path w="736023" h="903095">
                  <a:moveTo>
                    <a:pt x="0" y="0"/>
                  </a:moveTo>
                  <a:lnTo>
                    <a:pt x="736022" y="0"/>
                  </a:lnTo>
                  <a:lnTo>
                    <a:pt x="736022" y="903095"/>
                  </a:lnTo>
                  <a:lnTo>
                    <a:pt x="0" y="9030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918517"/>
              </p:ext>
            </p:extLst>
          </p:nvPr>
        </p:nvGraphicFramePr>
        <p:xfrm>
          <a:off x="9663556" y="2007750"/>
          <a:ext cx="7687006" cy="8109903"/>
        </p:xfrm>
        <a:graphic>
          <a:graphicData uri="http://schemas.openxmlformats.org/drawingml/2006/table">
            <a:tbl>
              <a:tblPr/>
              <a:tblGrid>
                <a:gridCol w="2181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3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8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6350"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350"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15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350"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800" dirty="0"/>
                    </a:p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350"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800" dirty="0"/>
                    </a:p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b="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350"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800" dirty="0"/>
                    </a:p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350"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350"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6350"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800" dirty="0"/>
                    </a:p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6350"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800" dirty="0"/>
                    </a:p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16350"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800" dirty="0"/>
                    </a:p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16350"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800" dirty="0"/>
                    </a:p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16350"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800" dirty="0"/>
                    </a:p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16350"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254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800" dirty="0"/>
                    </a:p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r>
                        <a:rPr lang="en-US" sz="1818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___</a:t>
                      </a: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46"/>
                        </a:lnSpc>
                        <a:defRPr/>
                      </a:pPr>
                      <a:endParaRPr lang="en-US" sz="1100" dirty="0"/>
                    </a:p>
                  </a:txBody>
                  <a:tcPr marL="17324" marR="17324" marT="17324" marB="17324" anchor="ctr">
                    <a:lnL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3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Freeform 13"/>
          <p:cNvSpPr/>
          <p:nvPr/>
        </p:nvSpPr>
        <p:spPr>
          <a:xfrm>
            <a:off x="12204291" y="5751869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204291" y="5136148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204291" y="3287468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204291" y="2671747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204291" y="4521977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204291" y="3906256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204291" y="9612262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204291" y="8830442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204291" y="6981761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204291" y="6366041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2204291" y="8216270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9"/>
                </a:lnTo>
                <a:lnTo>
                  <a:pt x="0" y="4842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204291" y="7600550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3469038" y="3287468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3469038" y="2671747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3469038" y="8837785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469038" y="8222064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595395" y="8836235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595395" y="8222064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5714787" y="8843578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5714787" y="8227857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5714787" y="5132735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5714787" y="4517014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5714787" y="2671747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6775654" y="5138457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6775654" y="3289776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6775654" y="2674056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6775654" y="4524285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9"/>
                </a:lnTo>
                <a:lnTo>
                  <a:pt x="0" y="4842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6775654" y="3908565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6775654" y="7606200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6775654" y="6992029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6775654" y="6376308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6775654" y="9612262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3449772" y="5138457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4638588" y="2674056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4638588" y="5132735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4638588" y="4590723"/>
            <a:ext cx="484238" cy="484238"/>
          </a:xfrm>
          <a:custGeom>
            <a:avLst/>
            <a:gdLst/>
            <a:ahLst/>
            <a:cxnLst/>
            <a:rect l="l" t="t" r="r" b="b"/>
            <a:pathLst>
              <a:path w="484238" h="484238">
                <a:moveTo>
                  <a:pt x="0" y="0"/>
                </a:moveTo>
                <a:lnTo>
                  <a:pt x="484238" y="0"/>
                </a:lnTo>
                <a:lnTo>
                  <a:pt x="484238" y="484238"/>
                </a:lnTo>
                <a:lnTo>
                  <a:pt x="0" y="48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9688676" y="1663275"/>
            <a:ext cx="244842" cy="228927"/>
          </a:xfrm>
          <a:custGeom>
            <a:avLst/>
            <a:gdLst/>
            <a:ahLst/>
            <a:cxnLst/>
            <a:rect l="l" t="t" r="r" b="b"/>
            <a:pathLst>
              <a:path w="244842" h="228927">
                <a:moveTo>
                  <a:pt x="0" y="0"/>
                </a:moveTo>
                <a:lnTo>
                  <a:pt x="244842" y="0"/>
                </a:lnTo>
                <a:lnTo>
                  <a:pt x="244842" y="228927"/>
                </a:lnTo>
                <a:lnTo>
                  <a:pt x="0" y="228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19895" y="1420388"/>
            <a:ext cx="244842" cy="228927"/>
          </a:xfrm>
          <a:custGeom>
            <a:avLst/>
            <a:gdLst/>
            <a:ahLst/>
            <a:cxnLst/>
            <a:rect l="l" t="t" r="r" b="b"/>
            <a:pathLst>
              <a:path w="244842" h="228927">
                <a:moveTo>
                  <a:pt x="0" y="0"/>
                </a:moveTo>
                <a:lnTo>
                  <a:pt x="244841" y="0"/>
                </a:lnTo>
                <a:lnTo>
                  <a:pt x="244841" y="228927"/>
                </a:lnTo>
                <a:lnTo>
                  <a:pt x="0" y="228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47741" y="8795843"/>
            <a:ext cx="1890972" cy="1154766"/>
          </a:xfrm>
          <a:custGeom>
            <a:avLst/>
            <a:gdLst/>
            <a:ahLst/>
            <a:cxnLst/>
            <a:rect l="l" t="t" r="r" b="b"/>
            <a:pathLst>
              <a:path w="1890972" h="1154766">
                <a:moveTo>
                  <a:pt x="0" y="0"/>
                </a:moveTo>
                <a:lnTo>
                  <a:pt x="1890972" y="0"/>
                </a:lnTo>
                <a:lnTo>
                  <a:pt x="1890972" y="1154765"/>
                </a:lnTo>
                <a:lnTo>
                  <a:pt x="0" y="11547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41" r="-4041"/>
            </a:stretch>
          </a:blipFill>
          <a:ln w="9525" cap="rnd">
            <a:solidFill>
              <a:srgbClr val="000000"/>
            </a:solidFill>
            <a:prstDash val="solid"/>
            <a:round/>
          </a:ln>
        </p:spPr>
      </p:sp>
      <p:grpSp>
        <p:nvGrpSpPr>
          <p:cNvPr id="52" name="Group 52"/>
          <p:cNvGrpSpPr/>
          <p:nvPr/>
        </p:nvGrpSpPr>
        <p:grpSpPr>
          <a:xfrm>
            <a:off x="1884252" y="9205637"/>
            <a:ext cx="584652" cy="262709"/>
            <a:chOff x="0" y="0"/>
            <a:chExt cx="904433" cy="406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04433" cy="406400"/>
            </a:xfrm>
            <a:custGeom>
              <a:avLst/>
              <a:gdLst/>
              <a:ahLst/>
              <a:cxnLst/>
              <a:rect l="l" t="t" r="r" b="b"/>
              <a:pathLst>
                <a:path w="904433" h="406400">
                  <a:moveTo>
                    <a:pt x="0" y="0"/>
                  </a:moveTo>
                  <a:lnTo>
                    <a:pt x="701233" y="0"/>
                  </a:lnTo>
                  <a:lnTo>
                    <a:pt x="904433" y="203200"/>
                  </a:lnTo>
                  <a:lnTo>
                    <a:pt x="70123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77800" y="0"/>
              <a:ext cx="650433" cy="406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5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9050" y="8823942"/>
            <a:ext cx="1828354" cy="1098568"/>
            <a:chOff x="0" y="0"/>
            <a:chExt cx="562281" cy="337847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62281" cy="337847"/>
            </a:xfrm>
            <a:custGeom>
              <a:avLst/>
              <a:gdLst/>
              <a:ahLst/>
              <a:cxnLst/>
              <a:rect l="l" t="t" r="r" b="b"/>
              <a:pathLst>
                <a:path w="562281" h="337847">
                  <a:moveTo>
                    <a:pt x="168924" y="0"/>
                  </a:moveTo>
                  <a:lnTo>
                    <a:pt x="393358" y="0"/>
                  </a:lnTo>
                  <a:cubicBezTo>
                    <a:pt x="438159" y="0"/>
                    <a:pt x="481125" y="17797"/>
                    <a:pt x="512805" y="49477"/>
                  </a:cubicBezTo>
                  <a:cubicBezTo>
                    <a:pt x="544484" y="81156"/>
                    <a:pt x="562281" y="124122"/>
                    <a:pt x="562281" y="168924"/>
                  </a:cubicBezTo>
                  <a:lnTo>
                    <a:pt x="562281" y="168924"/>
                  </a:lnTo>
                  <a:cubicBezTo>
                    <a:pt x="562281" y="213725"/>
                    <a:pt x="544484" y="256691"/>
                    <a:pt x="512805" y="288371"/>
                  </a:cubicBezTo>
                  <a:cubicBezTo>
                    <a:pt x="481125" y="320050"/>
                    <a:pt x="438159" y="337847"/>
                    <a:pt x="393358" y="337847"/>
                  </a:cubicBezTo>
                  <a:lnTo>
                    <a:pt x="168924" y="337847"/>
                  </a:lnTo>
                  <a:cubicBezTo>
                    <a:pt x="124122" y="337847"/>
                    <a:pt x="81156" y="320050"/>
                    <a:pt x="49477" y="288371"/>
                  </a:cubicBezTo>
                  <a:cubicBezTo>
                    <a:pt x="17797" y="256691"/>
                    <a:pt x="0" y="213725"/>
                    <a:pt x="0" y="168924"/>
                  </a:cubicBezTo>
                  <a:lnTo>
                    <a:pt x="0" y="168924"/>
                  </a:lnTo>
                  <a:cubicBezTo>
                    <a:pt x="0" y="124122"/>
                    <a:pt x="17797" y="81156"/>
                    <a:pt x="49477" y="49477"/>
                  </a:cubicBezTo>
                  <a:cubicBezTo>
                    <a:pt x="81156" y="17797"/>
                    <a:pt x="124122" y="0"/>
                    <a:pt x="168924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0"/>
              <a:ext cx="562281" cy="337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61"/>
                </a:lnSpc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252443" y="9205637"/>
            <a:ext cx="584652" cy="262709"/>
            <a:chOff x="0" y="0"/>
            <a:chExt cx="904433" cy="4064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904433" cy="406400"/>
            </a:xfrm>
            <a:custGeom>
              <a:avLst/>
              <a:gdLst/>
              <a:ahLst/>
              <a:cxnLst/>
              <a:rect l="l" t="t" r="r" b="b"/>
              <a:pathLst>
                <a:path w="904433" h="406400">
                  <a:moveTo>
                    <a:pt x="0" y="0"/>
                  </a:moveTo>
                  <a:lnTo>
                    <a:pt x="701233" y="0"/>
                  </a:lnTo>
                  <a:lnTo>
                    <a:pt x="904433" y="203200"/>
                  </a:lnTo>
                  <a:lnTo>
                    <a:pt x="70123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77800" y="0"/>
              <a:ext cx="650433" cy="406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5"/>
                </a:lnSpc>
              </a:pPr>
              <a:endParaRPr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616169" y="9241871"/>
            <a:ext cx="584652" cy="262709"/>
            <a:chOff x="0" y="0"/>
            <a:chExt cx="904433" cy="4064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904433" cy="406400"/>
            </a:xfrm>
            <a:custGeom>
              <a:avLst/>
              <a:gdLst/>
              <a:ahLst/>
              <a:cxnLst/>
              <a:rect l="l" t="t" r="r" b="b"/>
              <a:pathLst>
                <a:path w="904433" h="406400">
                  <a:moveTo>
                    <a:pt x="0" y="0"/>
                  </a:moveTo>
                  <a:lnTo>
                    <a:pt x="701233" y="0"/>
                  </a:lnTo>
                  <a:lnTo>
                    <a:pt x="904433" y="203200"/>
                  </a:lnTo>
                  <a:lnTo>
                    <a:pt x="70123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D1D9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77800" y="0"/>
              <a:ext cx="650433" cy="406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5"/>
                </a:lnSpc>
              </a:pPr>
              <a:endParaRPr/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9895" y="1820601"/>
            <a:ext cx="6225507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Standards &amp; Regulatory Alignment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8" tooltip="https://www.opengroup.org/certifications/open-fair"/>
              </a:rPr>
              <a:t>Open-FAIR Standard (ISO/IEC 27005)</a:t>
            </a:r>
            <a:r>
              <a:rPr lang="en-US" sz="1400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  <a:hlinkClick r:id="rId8" tooltip="https://www.opengroup.org/certifications/open-fair"/>
              </a:rPr>
              <a:t>:Factor Analysis of Information Risk 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9" tooltip="https://www.nist.gov/cyberframework"/>
              </a:rPr>
              <a:t>NIST Cybersecurity Framework 2.0</a:t>
            </a:r>
            <a:r>
              <a:rPr lang="en-US" sz="1400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  <a:hlinkClick r:id="rId9" tooltip="https://www.nist.gov/cyberframework"/>
              </a:rPr>
              <a:t>:Govern, Identify, Protect, Detect, Respond, Recover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10" tooltip="https://csrc.nist.gov/pubs/sp/800/207/final"/>
              </a:rPr>
              <a:t>NIST SP 800-207</a:t>
            </a:r>
            <a:r>
              <a:rPr lang="en-US" sz="1400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  <a:hlinkClick r:id="rId10" tooltip="https://csrc.nist.gov/pubs/sp/800/207/final"/>
              </a:rPr>
              <a:t>: Zero Trust Architecture (Continuous dynamic validation)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11" tooltip="https://www.rfc-editor.org/info/rfc4301/"/>
              </a:rPr>
              <a:t>RFC 4301</a:t>
            </a:r>
            <a:r>
              <a:rPr lang="en-US" sz="1400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  <a:hlinkClick r:id="rId11" tooltip="https://www.rfc-editor.org/info/rfc4301/"/>
              </a:rPr>
              <a:t>: Security Architecture for IP (IPsec &amp; tunnel validation)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12" tooltip="https://meity.gov.in"/>
              </a:rPr>
              <a:t>Digital Personal Data Protection (DPDP) Act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9895" y="3327541"/>
            <a:ext cx="6493451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Threat Reports &amp; Framework Documentation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13" tooltip="https://huggingface.co/blog/security-incident-july-2026"/>
              </a:rPr>
              <a:t>Hugging Face Security Incident Post-Mortem (July 2026)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14" tooltip="https://pytorch.org/blog/compromised-nightly-dependency"/>
              </a:rPr>
              <a:t>PyTorch Dependency Confusion (torchtriton)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15" tooltip="https://oligo.security/blog/shadowray-first-known-attack-targeting-ai-workloads"/>
              </a:rPr>
              <a:t>ShadowRay AI Compute Cluster Compromise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16" tooltip="https://jfrog.com/blog/data-scientists-targeted-by-malicious-hugging-face-ml-models-with-silent-backdoor/"/>
              </a:rPr>
              <a:t>Pickle Deserialization &amp; Malicious Weights ("Baller423"</a:t>
            </a: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17" tooltip="https://www.canva.com/design/DAGwtgolAgU/llQ0Ji-wXzeSXiuNu_nFvg/edit"/>
              </a:rPr>
              <a:t>)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18" tooltip="https://nextjs.org/docs"/>
              </a:rPr>
              <a:t>Next.js Documentation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19" tooltip="https://scapy.net"/>
              </a:rPr>
              <a:t>Scapy Packet Engine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20" tooltip="https://github.com/VirusTotal/yara-x"/>
              </a:rPr>
              <a:t>YARA-X Engine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140450" y="2256823"/>
            <a:ext cx="1289550" cy="271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82"/>
              </a:lnSpc>
              <a:spcBef>
                <a:spcPct val="0"/>
              </a:spcBef>
            </a:pPr>
            <a:r>
              <a:rPr lang="en-US" sz="18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2054445" y="2256823"/>
            <a:ext cx="918886" cy="2718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82"/>
              </a:lnSpc>
              <a:spcBef>
                <a:spcPct val="0"/>
              </a:spcBef>
            </a:pPr>
            <a:r>
              <a:rPr lang="en-US" sz="1818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KVCH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973331" y="2256823"/>
            <a:ext cx="1475652" cy="267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2"/>
              </a:lnSpc>
              <a:spcBef>
                <a:spcPct val="0"/>
              </a:spcBef>
            </a:pPr>
            <a:r>
              <a:rPr lang="en-US" sz="181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WIRESHARK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4595395" y="2256823"/>
            <a:ext cx="570624" cy="267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2"/>
              </a:lnSpc>
              <a:spcBef>
                <a:spcPct val="0"/>
              </a:spcBef>
            </a:pPr>
            <a:r>
              <a:rPr lang="en-US" sz="181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ZEEK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5330601" y="2256823"/>
            <a:ext cx="1252611" cy="267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2"/>
              </a:lnSpc>
              <a:spcBef>
                <a:spcPct val="0"/>
              </a:spcBef>
            </a:pPr>
            <a:r>
              <a:rPr lang="en-US" sz="181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SURICATA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6688005" y="2256823"/>
            <a:ext cx="571887" cy="267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2"/>
              </a:lnSpc>
              <a:spcBef>
                <a:spcPct val="0"/>
              </a:spcBef>
            </a:pPr>
            <a:r>
              <a:rPr lang="en-US" sz="181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SIEM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492111" y="2663085"/>
            <a:ext cx="2553602" cy="48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Network Monitoring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611008" y="3278102"/>
            <a:ext cx="2315808" cy="48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Live Traffic Visualization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500843" y="3914775"/>
            <a:ext cx="2553602" cy="48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ML-based Threat Classification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492111" y="4529793"/>
            <a:ext cx="2553602" cy="48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Automated Attack Categorization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474787" y="5222771"/>
            <a:ext cx="2553602" cy="24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Flow-level Analysis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492111" y="5751023"/>
            <a:ext cx="2553602" cy="48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Websocket Streaming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500843" y="6444000"/>
            <a:ext cx="2553602" cy="24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Security/Risk Score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518167" y="6980915"/>
            <a:ext cx="2553602" cy="48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AI-Powered Security Analysis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518167" y="7595933"/>
            <a:ext cx="2553602" cy="48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Automated Reccomedations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492111" y="8202288"/>
            <a:ext cx="2553602" cy="48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Packet header-based Analysis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500843" y="8825968"/>
            <a:ext cx="2553602" cy="485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Lightweight Endpoint Deployment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448800" y="9518945"/>
            <a:ext cx="2553602" cy="24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4"/>
              </a:lnSpc>
              <a:spcBef>
                <a:spcPct val="0"/>
              </a:spcBef>
            </a:pPr>
            <a:r>
              <a:rPr lang="en-US" sz="163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Unified Dashboard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0030401" y="1615814"/>
            <a:ext cx="7846849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79"/>
              </a:lnSpc>
              <a:spcBef>
                <a:spcPct val="0"/>
              </a:spcBef>
            </a:pPr>
            <a:r>
              <a:rPr lang="en-US" sz="2400" b="1" u="sng">
                <a:solidFill>
                  <a:srgbClr val="1F49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Features Comparision with existing Solutions: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9895" y="5070566"/>
            <a:ext cx="701578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Risk Quantification &amp; Financial Modeling Standards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21" tooltip="https://opengroup.org/open-fair"/>
              </a:rPr>
              <a:t>The Open Group Open-FAIR Standard (O-RT / O-RA</a:t>
            </a: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)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22" tooltip="https://scipy.org"/>
              </a:rPr>
              <a:t>Knapsack Resource Allocation Optimization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9895" y="5765891"/>
            <a:ext cx="701578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Industry Benchmarks &amp; Economic Reports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23" tooltip="https://ibm.com/reports/data-breach"/>
              </a:rPr>
              <a:t>IBM Security / Ponemon Institute</a:t>
            </a:r>
          </a:p>
          <a:p>
            <a:pPr marL="253371" lvl="1" indent="-126685" algn="just">
              <a:lnSpc>
                <a:spcPts val="168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24" tooltip="https://gartner.com/en/cybersecurity"/>
              </a:rPr>
              <a:t>Gartner Cybersecurity &amp; Emerging Tech Forecasts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461620" y="1325301"/>
            <a:ext cx="7846849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5"/>
              </a:lnSpc>
              <a:spcBef>
                <a:spcPct val="0"/>
              </a:spcBef>
            </a:pPr>
            <a:r>
              <a:rPr lang="en-US" sz="2754" b="1" u="sng">
                <a:solidFill>
                  <a:srgbClr val="1F49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</p:txBody>
      </p:sp>
      <p:sp>
        <p:nvSpPr>
          <p:cNvPr id="88" name="Freeform 88"/>
          <p:cNvSpPr/>
          <p:nvPr/>
        </p:nvSpPr>
        <p:spPr>
          <a:xfrm>
            <a:off x="2415932" y="8767743"/>
            <a:ext cx="1890972" cy="1154766"/>
          </a:xfrm>
          <a:custGeom>
            <a:avLst/>
            <a:gdLst/>
            <a:ahLst/>
            <a:cxnLst/>
            <a:rect l="l" t="t" r="r" b="b"/>
            <a:pathLst>
              <a:path w="1890972" h="1154766">
                <a:moveTo>
                  <a:pt x="0" y="0"/>
                </a:moveTo>
                <a:lnTo>
                  <a:pt x="1890973" y="0"/>
                </a:lnTo>
                <a:lnTo>
                  <a:pt x="1890973" y="1154766"/>
                </a:lnTo>
                <a:lnTo>
                  <a:pt x="0" y="11547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41" r="-4041"/>
            </a:stretch>
          </a:blipFill>
          <a:ln w="9525" cap="rnd">
            <a:solidFill>
              <a:srgbClr val="000000"/>
            </a:solidFill>
            <a:prstDash val="solid"/>
            <a:round/>
          </a:ln>
        </p:spPr>
      </p:sp>
      <p:grpSp>
        <p:nvGrpSpPr>
          <p:cNvPr id="89" name="Group 89"/>
          <p:cNvGrpSpPr/>
          <p:nvPr/>
        </p:nvGrpSpPr>
        <p:grpSpPr>
          <a:xfrm>
            <a:off x="2447242" y="8795843"/>
            <a:ext cx="1828354" cy="1098568"/>
            <a:chOff x="0" y="0"/>
            <a:chExt cx="562281" cy="337847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62281" cy="337847"/>
            </a:xfrm>
            <a:custGeom>
              <a:avLst/>
              <a:gdLst/>
              <a:ahLst/>
              <a:cxnLst/>
              <a:rect l="l" t="t" r="r" b="b"/>
              <a:pathLst>
                <a:path w="562281" h="337847">
                  <a:moveTo>
                    <a:pt x="168924" y="0"/>
                  </a:moveTo>
                  <a:lnTo>
                    <a:pt x="393358" y="0"/>
                  </a:lnTo>
                  <a:cubicBezTo>
                    <a:pt x="438159" y="0"/>
                    <a:pt x="481125" y="17797"/>
                    <a:pt x="512805" y="49477"/>
                  </a:cubicBezTo>
                  <a:cubicBezTo>
                    <a:pt x="544484" y="81156"/>
                    <a:pt x="562281" y="124122"/>
                    <a:pt x="562281" y="168924"/>
                  </a:cubicBezTo>
                  <a:lnTo>
                    <a:pt x="562281" y="168924"/>
                  </a:lnTo>
                  <a:cubicBezTo>
                    <a:pt x="562281" y="213725"/>
                    <a:pt x="544484" y="256691"/>
                    <a:pt x="512805" y="288371"/>
                  </a:cubicBezTo>
                  <a:cubicBezTo>
                    <a:pt x="481125" y="320050"/>
                    <a:pt x="438159" y="337847"/>
                    <a:pt x="393358" y="337847"/>
                  </a:cubicBezTo>
                  <a:lnTo>
                    <a:pt x="168924" y="337847"/>
                  </a:lnTo>
                  <a:cubicBezTo>
                    <a:pt x="124122" y="337847"/>
                    <a:pt x="81156" y="320050"/>
                    <a:pt x="49477" y="288371"/>
                  </a:cubicBezTo>
                  <a:cubicBezTo>
                    <a:pt x="17797" y="256691"/>
                    <a:pt x="0" y="213725"/>
                    <a:pt x="0" y="168924"/>
                  </a:cubicBezTo>
                  <a:lnTo>
                    <a:pt x="0" y="168924"/>
                  </a:lnTo>
                  <a:cubicBezTo>
                    <a:pt x="0" y="124122"/>
                    <a:pt x="17797" y="81156"/>
                    <a:pt x="49477" y="49477"/>
                  </a:cubicBezTo>
                  <a:cubicBezTo>
                    <a:pt x="81156" y="17797"/>
                    <a:pt x="124122" y="0"/>
                    <a:pt x="168924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id="91" name="TextBox 91"/>
            <p:cNvSpPr txBox="1"/>
            <p:nvPr/>
          </p:nvSpPr>
          <p:spPr>
            <a:xfrm>
              <a:off x="0" y="0"/>
              <a:ext cx="562281" cy="337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61"/>
                </a:lnSpc>
              </a:pPr>
              <a:endParaRPr/>
            </a:p>
          </p:txBody>
        </p:sp>
      </p:grpSp>
      <p:sp>
        <p:nvSpPr>
          <p:cNvPr id="92" name="Freeform 92"/>
          <p:cNvSpPr/>
          <p:nvPr/>
        </p:nvSpPr>
        <p:spPr>
          <a:xfrm>
            <a:off x="4788184" y="8795843"/>
            <a:ext cx="1890972" cy="1154766"/>
          </a:xfrm>
          <a:custGeom>
            <a:avLst/>
            <a:gdLst/>
            <a:ahLst/>
            <a:cxnLst/>
            <a:rect l="l" t="t" r="r" b="b"/>
            <a:pathLst>
              <a:path w="1890972" h="1154766">
                <a:moveTo>
                  <a:pt x="0" y="0"/>
                </a:moveTo>
                <a:lnTo>
                  <a:pt x="1890972" y="0"/>
                </a:lnTo>
                <a:lnTo>
                  <a:pt x="1890972" y="1154765"/>
                </a:lnTo>
                <a:lnTo>
                  <a:pt x="0" y="11547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41" r="-4041"/>
            </a:stretch>
          </a:blipFill>
          <a:ln w="9525" cap="rnd">
            <a:solidFill>
              <a:srgbClr val="000000"/>
            </a:solidFill>
            <a:prstDash val="solid"/>
            <a:round/>
          </a:ln>
        </p:spPr>
      </p:sp>
      <p:grpSp>
        <p:nvGrpSpPr>
          <p:cNvPr id="93" name="Group 93"/>
          <p:cNvGrpSpPr/>
          <p:nvPr/>
        </p:nvGrpSpPr>
        <p:grpSpPr>
          <a:xfrm>
            <a:off x="4819493" y="8823942"/>
            <a:ext cx="1828354" cy="1098568"/>
            <a:chOff x="0" y="0"/>
            <a:chExt cx="562281" cy="337847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562281" cy="337847"/>
            </a:xfrm>
            <a:custGeom>
              <a:avLst/>
              <a:gdLst/>
              <a:ahLst/>
              <a:cxnLst/>
              <a:rect l="l" t="t" r="r" b="b"/>
              <a:pathLst>
                <a:path w="562281" h="337847">
                  <a:moveTo>
                    <a:pt x="168924" y="0"/>
                  </a:moveTo>
                  <a:lnTo>
                    <a:pt x="393358" y="0"/>
                  </a:lnTo>
                  <a:cubicBezTo>
                    <a:pt x="438159" y="0"/>
                    <a:pt x="481125" y="17797"/>
                    <a:pt x="512805" y="49477"/>
                  </a:cubicBezTo>
                  <a:cubicBezTo>
                    <a:pt x="544484" y="81156"/>
                    <a:pt x="562281" y="124122"/>
                    <a:pt x="562281" y="168924"/>
                  </a:cubicBezTo>
                  <a:lnTo>
                    <a:pt x="562281" y="168924"/>
                  </a:lnTo>
                  <a:cubicBezTo>
                    <a:pt x="562281" y="213725"/>
                    <a:pt x="544484" y="256691"/>
                    <a:pt x="512805" y="288371"/>
                  </a:cubicBezTo>
                  <a:cubicBezTo>
                    <a:pt x="481125" y="320050"/>
                    <a:pt x="438159" y="337847"/>
                    <a:pt x="393358" y="337847"/>
                  </a:cubicBezTo>
                  <a:lnTo>
                    <a:pt x="168924" y="337847"/>
                  </a:lnTo>
                  <a:cubicBezTo>
                    <a:pt x="124122" y="337847"/>
                    <a:pt x="81156" y="320050"/>
                    <a:pt x="49477" y="288371"/>
                  </a:cubicBezTo>
                  <a:cubicBezTo>
                    <a:pt x="17797" y="256691"/>
                    <a:pt x="0" y="213725"/>
                    <a:pt x="0" y="168924"/>
                  </a:cubicBezTo>
                  <a:lnTo>
                    <a:pt x="0" y="168924"/>
                  </a:lnTo>
                  <a:cubicBezTo>
                    <a:pt x="0" y="124122"/>
                    <a:pt x="17797" y="81156"/>
                    <a:pt x="49477" y="49477"/>
                  </a:cubicBezTo>
                  <a:cubicBezTo>
                    <a:pt x="81156" y="17797"/>
                    <a:pt x="124122" y="0"/>
                    <a:pt x="168924" y="0"/>
                  </a:cubicBez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id="95" name="TextBox 95"/>
            <p:cNvSpPr txBox="1"/>
            <p:nvPr/>
          </p:nvSpPr>
          <p:spPr>
            <a:xfrm>
              <a:off x="0" y="0"/>
              <a:ext cx="562281" cy="337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61"/>
                </a:lnSpc>
              </a:pPr>
              <a:endParaRPr/>
            </a:p>
          </p:txBody>
        </p:sp>
      </p:grpSp>
      <p:sp>
        <p:nvSpPr>
          <p:cNvPr id="96" name="Freeform 96"/>
          <p:cNvSpPr/>
          <p:nvPr/>
        </p:nvSpPr>
        <p:spPr>
          <a:xfrm>
            <a:off x="7156375" y="8767743"/>
            <a:ext cx="1890972" cy="1154766"/>
          </a:xfrm>
          <a:custGeom>
            <a:avLst/>
            <a:gdLst/>
            <a:ahLst/>
            <a:cxnLst/>
            <a:rect l="l" t="t" r="r" b="b"/>
            <a:pathLst>
              <a:path w="1890972" h="1154766">
                <a:moveTo>
                  <a:pt x="0" y="0"/>
                </a:moveTo>
                <a:lnTo>
                  <a:pt x="1890972" y="0"/>
                </a:lnTo>
                <a:lnTo>
                  <a:pt x="1890972" y="1154766"/>
                </a:lnTo>
                <a:lnTo>
                  <a:pt x="0" y="11547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41" r="-4041"/>
            </a:stretch>
          </a:blipFill>
          <a:ln w="9525" cap="rnd">
            <a:solidFill>
              <a:srgbClr val="000000"/>
            </a:solidFill>
            <a:prstDash val="solid"/>
            <a:round/>
          </a:ln>
        </p:spPr>
      </p:sp>
      <p:grpSp>
        <p:nvGrpSpPr>
          <p:cNvPr id="97" name="Group 97"/>
          <p:cNvGrpSpPr/>
          <p:nvPr/>
        </p:nvGrpSpPr>
        <p:grpSpPr>
          <a:xfrm>
            <a:off x="7187684" y="8795843"/>
            <a:ext cx="1828354" cy="1098568"/>
            <a:chOff x="0" y="0"/>
            <a:chExt cx="562281" cy="337847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562281" cy="337847"/>
            </a:xfrm>
            <a:custGeom>
              <a:avLst/>
              <a:gdLst/>
              <a:ahLst/>
              <a:cxnLst/>
              <a:rect l="l" t="t" r="r" b="b"/>
              <a:pathLst>
                <a:path w="562281" h="337847">
                  <a:moveTo>
                    <a:pt x="168924" y="0"/>
                  </a:moveTo>
                  <a:lnTo>
                    <a:pt x="393358" y="0"/>
                  </a:lnTo>
                  <a:cubicBezTo>
                    <a:pt x="438159" y="0"/>
                    <a:pt x="481125" y="17797"/>
                    <a:pt x="512805" y="49477"/>
                  </a:cubicBezTo>
                  <a:cubicBezTo>
                    <a:pt x="544484" y="81156"/>
                    <a:pt x="562281" y="124122"/>
                    <a:pt x="562281" y="168924"/>
                  </a:cubicBezTo>
                  <a:lnTo>
                    <a:pt x="562281" y="168924"/>
                  </a:lnTo>
                  <a:cubicBezTo>
                    <a:pt x="562281" y="213725"/>
                    <a:pt x="544484" y="256691"/>
                    <a:pt x="512805" y="288371"/>
                  </a:cubicBezTo>
                  <a:cubicBezTo>
                    <a:pt x="481125" y="320050"/>
                    <a:pt x="438159" y="337847"/>
                    <a:pt x="393358" y="337847"/>
                  </a:cubicBezTo>
                  <a:lnTo>
                    <a:pt x="168924" y="337847"/>
                  </a:lnTo>
                  <a:cubicBezTo>
                    <a:pt x="124122" y="337847"/>
                    <a:pt x="81156" y="320050"/>
                    <a:pt x="49477" y="288371"/>
                  </a:cubicBezTo>
                  <a:cubicBezTo>
                    <a:pt x="17797" y="256691"/>
                    <a:pt x="0" y="213725"/>
                    <a:pt x="0" y="168924"/>
                  </a:cubicBezTo>
                  <a:lnTo>
                    <a:pt x="0" y="168924"/>
                  </a:lnTo>
                  <a:cubicBezTo>
                    <a:pt x="0" y="124122"/>
                    <a:pt x="17797" y="81156"/>
                    <a:pt x="49477" y="49477"/>
                  </a:cubicBezTo>
                  <a:cubicBezTo>
                    <a:pt x="81156" y="17797"/>
                    <a:pt x="124122" y="0"/>
                    <a:pt x="168924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99" name="TextBox 99"/>
            <p:cNvSpPr txBox="1"/>
            <p:nvPr/>
          </p:nvSpPr>
          <p:spPr>
            <a:xfrm>
              <a:off x="0" y="0"/>
              <a:ext cx="562281" cy="337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61"/>
                </a:lnSpc>
              </a:pPr>
              <a:endParaRPr/>
            </a:p>
          </p:txBody>
        </p:sp>
      </p:grpSp>
      <p:sp>
        <p:nvSpPr>
          <p:cNvPr id="100" name="TextBox 100"/>
          <p:cNvSpPr txBox="1"/>
          <p:nvPr/>
        </p:nvSpPr>
        <p:spPr>
          <a:xfrm>
            <a:off x="0" y="9014757"/>
            <a:ext cx="1828354" cy="64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THREAT AUDIT</a:t>
            </a:r>
          </a:p>
          <a:p>
            <a:pPr marL="295837" lvl="1" indent="-147918" algn="l">
              <a:lnSpc>
                <a:spcPts val="1644"/>
              </a:lnSpc>
              <a:buFont typeface="Arial"/>
              <a:buChar char="•"/>
            </a:pPr>
            <a:r>
              <a:rPr lang="en-US" sz="13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Vector Profiling</a:t>
            </a:r>
          </a:p>
          <a:p>
            <a:pPr marL="295837" lvl="1" indent="-147918" algn="l">
              <a:lnSpc>
                <a:spcPts val="1644"/>
              </a:lnSpc>
              <a:buFont typeface="Arial"/>
              <a:buChar char="•"/>
            </a:pPr>
            <a:r>
              <a:rPr lang="en-US" sz="13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Incident Scans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399618" y="9014757"/>
            <a:ext cx="1907287" cy="62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sz="147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 MODEL</a:t>
            </a:r>
            <a:r>
              <a:rPr lang="en-US" sz="147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marL="295837" lvl="1" indent="-147918" algn="l">
              <a:lnSpc>
                <a:spcPts val="1644"/>
              </a:lnSpc>
              <a:buFont typeface="Arial"/>
              <a:buChar char="•"/>
            </a:pPr>
            <a:r>
              <a:rPr lang="en-US" sz="13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Open-FAIR $VaR</a:t>
            </a:r>
          </a:p>
          <a:p>
            <a:pPr marL="295837" lvl="1" indent="-147918" algn="l">
              <a:lnSpc>
                <a:spcPts val="1644"/>
              </a:lnSpc>
              <a:buFont typeface="Arial"/>
              <a:buChar char="•"/>
            </a:pPr>
            <a:r>
              <a:rPr lang="en-US" sz="13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Knapsack Budget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4837095" y="9051013"/>
            <a:ext cx="1828354" cy="64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1"/>
              </a:lnSpc>
            </a:pPr>
            <a:r>
              <a:rPr lang="en-US" sz="155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INLINE GATING</a:t>
            </a:r>
          </a:p>
          <a:p>
            <a:pPr marL="295837" lvl="1" indent="-147918" algn="l">
              <a:lnSpc>
                <a:spcPts val="1644"/>
              </a:lnSpc>
              <a:buFont typeface="Arial"/>
              <a:buChar char="•"/>
            </a:pPr>
            <a:r>
              <a:rPr lang="en-US" sz="13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Scapy + YARA-X</a:t>
            </a:r>
          </a:p>
          <a:p>
            <a:pPr marL="295837" lvl="1" indent="-147918" algn="l">
              <a:lnSpc>
                <a:spcPts val="1644"/>
              </a:lnSpc>
              <a:buFont typeface="Arial"/>
              <a:buChar char="•"/>
            </a:pPr>
            <a:r>
              <a:rPr lang="en-US" sz="13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Reversible Hold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236713" y="9051013"/>
            <a:ext cx="1907287" cy="628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9"/>
              </a:lnSpc>
            </a:pPr>
            <a:r>
              <a:rPr lang="en-US" sz="147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CLOSURE PROOF</a:t>
            </a:r>
          </a:p>
          <a:p>
            <a:pPr marL="295837" lvl="1" indent="-147918" algn="l">
              <a:lnSpc>
                <a:spcPts val="1644"/>
              </a:lnSpc>
              <a:buFont typeface="Arial"/>
              <a:buChar char="•"/>
            </a:pPr>
            <a:r>
              <a:rPr lang="en-US" sz="13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Live Telemetry</a:t>
            </a:r>
          </a:p>
          <a:p>
            <a:pPr marL="295837" lvl="1" indent="-147918" algn="l">
              <a:lnSpc>
                <a:spcPts val="1644"/>
              </a:lnSpc>
              <a:buFont typeface="Arial"/>
              <a:buChar char="•"/>
            </a:pPr>
            <a:r>
              <a:rPr lang="en-US" sz="13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Zero IP Leakst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61620" y="8272443"/>
            <a:ext cx="679181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 b="1" u="sng">
                <a:solidFill>
                  <a:srgbClr val="1F497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Research &amp; Validation Methodology Pipeline</a:t>
            </a:r>
          </a:p>
        </p:txBody>
      </p:sp>
      <p:sp>
        <p:nvSpPr>
          <p:cNvPr id="105" name="Freeform 105"/>
          <p:cNvSpPr/>
          <p:nvPr/>
        </p:nvSpPr>
        <p:spPr>
          <a:xfrm>
            <a:off x="119895" y="8339118"/>
            <a:ext cx="244842" cy="228927"/>
          </a:xfrm>
          <a:custGeom>
            <a:avLst/>
            <a:gdLst/>
            <a:ahLst/>
            <a:cxnLst/>
            <a:rect l="l" t="t" r="r" b="b"/>
            <a:pathLst>
              <a:path w="244842" h="228927">
                <a:moveTo>
                  <a:pt x="0" y="0"/>
                </a:moveTo>
                <a:lnTo>
                  <a:pt x="244841" y="0"/>
                </a:lnTo>
                <a:lnTo>
                  <a:pt x="244841" y="228927"/>
                </a:lnTo>
                <a:lnTo>
                  <a:pt x="0" y="228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6" name="TextBox 106"/>
          <p:cNvSpPr txBox="1"/>
          <p:nvPr/>
        </p:nvSpPr>
        <p:spPr>
          <a:xfrm>
            <a:off x="119895" y="6482378"/>
            <a:ext cx="6778319" cy="180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Feasibility fact check and callouts</a:t>
            </a:r>
          </a:p>
          <a:p>
            <a:pPr marL="253371" lvl="1" indent="-126685" algn="just">
              <a:lnSpc>
                <a:spcPts val="154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25" tooltip="https://ibm"/>
              </a:rPr>
              <a:t>IBM Security: Global breach cost hits $4.88M; automated containment cuts breach lifecycles by 80+ days.</a:t>
            </a:r>
          </a:p>
          <a:p>
            <a:pPr marL="253371" lvl="1" indent="-126685" algn="just">
              <a:lnSpc>
                <a:spcPts val="154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24" tooltip="https://gartner.com/en/cybersecurity"/>
              </a:rPr>
              <a:t>Gartner: 60%+ code is AI-assisted; demands inline shift-left gating against supply chain exploits</a:t>
            </a: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25" tooltip="https://ibm"/>
              </a:rPr>
              <a:t>.</a:t>
            </a:r>
          </a:p>
          <a:p>
            <a:pPr marL="253371" lvl="1" indent="-126685" algn="just">
              <a:lnSpc>
                <a:spcPts val="154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26" tooltip="https://csrc.nist.gov/publications/detail/sp/800-207/final"/>
              </a:rPr>
              <a:t>NIST SP 800-207: Replaces static perimeters with continuous runtime Zero Trust verification</a:t>
            </a: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25" tooltip="https://ibm"/>
              </a:rPr>
              <a:t>.</a:t>
            </a:r>
          </a:p>
          <a:p>
            <a:pPr marL="253371" lvl="1" indent="-126685" algn="just">
              <a:lnSpc>
                <a:spcPts val="1540"/>
              </a:lnSpc>
              <a:buFont typeface="Arial"/>
              <a:buChar char="•"/>
            </a:pP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27" tooltip="https://opengroup.org/open-fairbm"/>
              </a:rPr>
              <a:t>Open-FAIR: Standard converting risk heatmaps into defensible $VaR metrics</a:t>
            </a:r>
            <a:r>
              <a:rPr lang="en-US" sz="1400" b="1" u="sng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  <a:hlinkClick r:id="rId25" tooltip="https://ibm"/>
              </a:rPr>
              <a:t>.</a:t>
            </a:r>
          </a:p>
        </p:txBody>
      </p:sp>
      <p:grpSp>
        <p:nvGrpSpPr>
          <p:cNvPr id="107" name="Group 107"/>
          <p:cNvGrpSpPr/>
          <p:nvPr/>
        </p:nvGrpSpPr>
        <p:grpSpPr>
          <a:xfrm>
            <a:off x="394363" y="236799"/>
            <a:ext cx="1695665" cy="1105523"/>
            <a:chOff x="0" y="0"/>
            <a:chExt cx="2554516" cy="1665468"/>
          </a:xfrm>
        </p:grpSpPr>
        <p:sp>
          <p:nvSpPr>
            <p:cNvPr id="108" name="Freeform 108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HELL CODE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1171</Words>
  <Application>Microsoft Office PowerPoint</Application>
  <PresentationFormat>Custom</PresentationFormat>
  <Paragraphs>218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2" baseType="lpstr">
      <vt:lpstr>Times New Roman Bold</vt:lpstr>
      <vt:lpstr>Arial Bold</vt:lpstr>
      <vt:lpstr>Nourd Bold</vt:lpstr>
      <vt:lpstr>Nourd Semi-Bold</vt:lpstr>
      <vt:lpstr>Nourd</vt:lpstr>
      <vt:lpstr>Trade Gothic Condensed Bold</vt:lpstr>
      <vt:lpstr>Arial</vt:lpstr>
      <vt:lpstr>Canva Sans Bold</vt:lpstr>
      <vt:lpstr>Barlow Medium</vt:lpstr>
      <vt:lpstr>Oswald Bold</vt:lpstr>
      <vt:lpstr>Canva Sans</vt:lpstr>
      <vt:lpstr>Garamond Bold</vt:lpstr>
      <vt:lpstr>Calibri</vt:lpstr>
      <vt:lpstr>Trade Gothic Condensed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VPN Watermark</dc:title>
  <cp:lastModifiedBy>Sahil Kumar Sharma</cp:lastModifiedBy>
  <cp:revision>2</cp:revision>
  <dcterms:created xsi:type="dcterms:W3CDTF">2006-08-16T00:00:00Z</dcterms:created>
  <dcterms:modified xsi:type="dcterms:W3CDTF">2026-09-09T18:09:39Z</dcterms:modified>
  <dc:identifier>DAHUOXfmp00</dc:identifier>
</cp:coreProperties>
</file>